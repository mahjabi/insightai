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1 — Project Problem &amp; Existing Neo4j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CS 5542 Challenge 3: Human–AI Co-Design — Grounded GraphRAG with Neo4j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🎯 InsightAI: Multimodal Supply Chain Intelligence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Domain Problem: </a:t>
            </a:r>
            <a:r>
              <a:rPr>
                <a:solidFill>
                  <a:srgbClr val="E2E8F0"/>
                </a:solidFill>
              </a:rPr>
              <a:t>Brazilian E-Commerce (Olist dataset) experiences systemic customer dissatisfaction driven by opaque multi-hop failures—interstate transit delays (+11 to +15.5 days), heavy parcel damage, and merchant SLA breaches.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Vector-Only RAG Bottleneck: </a:t>
            </a:r>
            <a:r>
              <a:rPr>
                <a:solidFill>
                  <a:srgbClr val="E2E8F0"/>
                </a:solidFill>
              </a:rPr>
              <a:t>Standard semantic vector search retrieves review text chunks but cannot traverse relational causal chains (e.g., connecting a broken table back to a specific route, carrier, or seller hub).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Existing Knowledge Graph (AuraDB): </a:t>
            </a:r>
            <a:r>
              <a:rPr>
                <a:solidFill>
                  <a:srgbClr val="E2E8F0"/>
                </a:solidFill>
              </a:rPr>
              <a:t>Successfully deployed on Neo4j AuraDB with zero phantom nodes, 8 entity types, and 44 relationships.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Key Entities (37 Nodes): </a:t>
            </a:r>
            <a:r>
              <a:rPr>
                <a:solidFill>
                  <a:srgbClr val="E2E8F0"/>
                </a:solidFill>
              </a:rPr>
              <a:t>Customer (5), Seller (3), Order (5), Product (6), Review (5), LogisticsRoute (4), ComplaintCause (5), RemediationAction (4).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Core Graph Relationships: </a:t>
            </a:r>
            <a:r>
              <a:rPr>
                <a:solidFill>
                  <a:srgbClr val="E2E8F0"/>
                </a:solidFill>
              </a:rPr>
              <a:t>PLACED_ORDER, CONTAINS_ITEM, FULFILLED_BY, TRANSPORTED_VIA, RECEIVES_FEEDBACK, CITES_COMPLAINT, TRIGGERS_REMEDY, EXPERIENCES_DELAY_ON, EXPERIENCES_DAMAGE_ON.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Live Deployment: </a:t>
            </a:r>
            <a:r>
              <a:rPr>
                <a:solidFill>
                  <a:srgbClr val="E2E8F0"/>
                </a:solidFill>
              </a:rPr>
              <a:t>Instance InsightAI on Neo4j AuraDB (`a1085e34.databases.neo4j.io`) verified and fully responsive.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43000"/>
            <a:ext cx="557784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🌐 Live Neo4j Knowledge Graph (AuraDB)</a:t>
            </a:r>
          </a:p>
        </p:txBody>
      </p:sp>
      <p:pic>
        <p:nvPicPr>
          <p:cNvPr id="9" name="Picture 8" descr="neo4j_knowledge_grap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2120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3492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Live Neo4j Aura Graph: 8 entity classes, 37 active nodes, 44 directed relationships, and 8 uniqueness constraints. Captures complete multi-hop logistics provenance.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2 — InsightAI GraphRAG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End-to-End Flow: Natural Language Query ➔ Subgraph Traversal ➔ Context Assembly ➔ Grounded Synthesis</a:t>
            </a:r>
          </a:p>
        </p:txBody>
      </p:sp>
      <p:pic>
        <p:nvPicPr>
          <p:cNvPr id="5" name="Picture 4" descr="graphrag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32461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1. Graph-Guided Retrieval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Traverses 1-to-3 hop relational paths in Neo4j AuraDB to extract interconnected causal entities, SLA metrics, and customer review comments.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5303520"/>
            <a:ext cx="32461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2. Deterministic Context Assembly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Combines structured graph triples, transit delay numbers, and carrier SLA breach flags into a rich context payload with zero hallucination.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5303520"/>
            <a:ext cx="32461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3. Provenance-Grounded Answer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LLM generates executive diagnostics and automated operational remediation plans, citing exact database node keys and relationship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3 — Human–AI Co-Design: Iterative Knowledge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Documented Iteration: Human Design ➔ AI Recommendation ➔ Human Evaluation ➔ Revised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Stage 1: Human Design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Initial Semantic Schema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Starting Concept: </a:t>
            </a:r>
            <a:r>
              <a:rPr>
                <a:solidFill>
                  <a:srgbClr val="E2E8F0"/>
                </a:solidFill>
              </a:rPr>
              <a:t>Designed initial conceptual ontology connecting Customers, Orders, Products, Sellers, Routes, Reviews, Causes, and Remediations.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Goal: </a:t>
            </a:r>
            <a:r>
              <a:rPr>
                <a:solidFill>
                  <a:srgbClr val="E2E8F0"/>
                </a:solidFill>
              </a:rPr>
              <a:t>Trace 1-star reviews directly back to route bottlenecks and heavy parcel freight.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Challenge: </a:t>
            </a:r>
            <a:r>
              <a:rPr>
                <a:solidFill>
                  <a:srgbClr val="E2E8F0"/>
                </a:solidFill>
              </a:rPr>
              <a:t>How to translate conceptual design into multi-block Cypher statements for live Neo4j Aura without data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Stage 2: AI Recommendation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AI Cypher Generation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AI Suggestion: </a:t>
            </a:r>
            <a:r>
              <a:rPr>
                <a:solidFill>
                  <a:srgbClr val="E2E8F0"/>
                </a:solidFill>
              </a:rPr>
              <a:t>Generated multi-statement Cypher script with separate MERGE blocks for nodes and MERGE blocks for relationships.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Syntax Recommendation: </a:t>
            </a:r>
            <a:r>
              <a:rPr>
                <a:solidFill>
                  <a:srgbClr val="E2E8F0"/>
                </a:solidFill>
              </a:rPr>
              <a:t>Reused variable aliases (e.g. `MERGE (cause1)-[:TRIGGERS_REMEDY]-&gt;(act1)`) across semicolon-separated statements.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Vector Search Idea: </a:t>
            </a:r>
            <a:r>
              <a:rPr>
                <a:solidFill>
                  <a:srgbClr val="E2E8F0"/>
                </a:solidFill>
              </a:rPr>
              <a:t>Recommended text embeddings for review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7185"/>
                </a:solidFill>
              </a:defRPr>
            </a:pPr>
            <a:r>
              <a:t>Stage 3: Human Evaluation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Critical Flaw Discovered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Execution Analysis: </a:t>
            </a:r>
            <a:r>
              <a:rPr>
                <a:solidFill>
                  <a:srgbClr val="E2E8F0"/>
                </a:solidFill>
              </a:rPr>
              <a:t>Human testing on live Neo4j Aura revealed a critical Cypher bug: variable scope is PER STATEMENT.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Phantom Nodes: </a:t>
            </a:r>
            <a:r>
              <a:rPr>
                <a:solidFill>
                  <a:srgbClr val="E2E8F0"/>
                </a:solidFill>
              </a:rPr>
              <a:t>Cross-block variable references created 16–26 empty, unlabeled phantom nodes (`{}`)!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Evaluation: </a:t>
            </a:r>
            <a:r>
              <a:rPr>
                <a:solidFill>
                  <a:srgbClr val="E2E8F0"/>
                </a:solidFill>
              </a:rPr>
              <a:t>Rejected isolated variables; determined graph must strictly enforce pattern matching and add quantitative SLA properties.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Stage 4: Co-Design Revision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Zero-Phantom GraphRAG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Co-Designed Fix: </a:t>
            </a:r>
            <a:r>
              <a:rPr>
                <a:solidFill>
                  <a:srgbClr val="E2E8F0"/>
                </a:solidFill>
              </a:rPr>
              <a:t>Rewrote all relationship merges using explicit key-matched queries (`MATCH (c:Cause {name:...}), (a:Action {action_type:...}) MERGE (c)-[:REL]-&gt;(a)`).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Result: </a:t>
            </a:r>
            <a:r>
              <a:rPr>
                <a:solidFill>
                  <a:srgbClr val="E2E8F0"/>
                </a:solidFill>
              </a:rPr>
              <a:t>Eliminated 100% of phantom nodes (37 valid nodes, 44 rels, 0 blank nodes).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SLA Ingestion: </a:t>
            </a:r>
            <a:r>
              <a:rPr>
                <a:solidFill>
                  <a:srgbClr val="E2E8F0"/>
                </a:solidFill>
              </a:rPr>
              <a:t>Added carrier SLA targets, route distance, and remediation cost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4 — GraphRAG Implementation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Grounded Prototype: Neo4j AuraDB + Python 3.10 + Streamlit v3.0 + NetworkX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⚙️ Production Technology Stack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Graph Database: </a:t>
            </a:r>
            <a:r>
              <a:rPr>
                <a:solidFill>
                  <a:srgbClr val="E2E8F0"/>
                </a:solidFill>
              </a:rPr>
              <a:t>Neo4j AuraDB (Instance `InsightAI`, `neo4j+s://a1085e34.databases.neo4j.io`, 7687)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Python Client: </a:t>
            </a:r>
            <a:r>
              <a:rPr>
                <a:solidFill>
                  <a:srgbClr val="E2E8F0"/>
                </a:solidFill>
              </a:rPr>
              <a:t>Neo4j Python Driver 6.4.0 with encrypted SSL session routing and zero-phantom query isolation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UI Framework: </a:t>
            </a:r>
            <a:r>
              <a:rPr>
                <a:solidFill>
                  <a:srgbClr val="E2E8F0"/>
                </a:solidFill>
              </a:rPr>
              <a:t>Streamlit v3.0 (`app.py`) featuring dual-mode operations, live AuraDB status indicator, and interactive query playground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Graph Visualizer: </a:t>
            </a:r>
            <a:r>
              <a:rPr>
                <a:solidFill>
                  <a:srgbClr val="E2E8F0"/>
                </a:solidFill>
              </a:rPr>
              <a:t>NetworkX 3.0 &amp; Matplotlib high-resolution subgraph extractors for visual provenance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Grounded LLM Engine: </a:t>
            </a:r>
            <a:r>
              <a:rPr>
                <a:solidFill>
                  <a:srgbClr val="E2E8F0"/>
                </a:solidFill>
              </a:rPr>
              <a:t>InsightAIGraphRAG with deterministic evidence binding, citation tagging, and multi-hop traversal synthesis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Latency Optimization: </a:t>
            </a:r>
            <a:r>
              <a:rPr>
                <a:solidFill>
                  <a:srgbClr val="E2E8F0"/>
                </a:solidFill>
              </a:rPr>
              <a:t>Sub-180ms retrieval on live cloud AuraDB (68ms for single-hop, 180ms for 3-hop traversal)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Deployment Branch: </a:t>
            </a:r>
            <a:r>
              <a:rPr>
                <a:solidFill>
                  <a:srgbClr val="E2E8F0"/>
                </a:solidFill>
              </a:rPr>
              <a:t>Dedicated GitHub branch `challenge-3-graphrag` preserving all Challenge 2 enhancements intact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🖥️ Live GraphRAG Subgraph Retrieval &amp; Reasoning</a:t>
            </a:r>
          </a:p>
        </p:txBody>
      </p:sp>
      <p:pic>
        <p:nvPicPr>
          <p:cNvPr id="9" name="Picture 8" descr="graphrag_subgraph_vis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3492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Extracted Subgraphs: Left shows 3-hop diagnostic chain for Order ORD_50042; Right shows multi-relational corridor failure analytics and triggered operational remediations.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5 — Neo4j Retrieval: Cypher Queries &amp; Graph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Relational Knowledge Retrieval: Traversing Constraints, Multi-Hop Paths &amp; Empirical Failure 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2468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🔍 Production Multi-Hop Retrieval Cypher Query (Order ➔ Route ➔ Review ➔ Cause):</a:t>
            </a:r>
          </a:p>
          <a:p>
            <a:pPr>
              <a:defRPr sz="900">
                <a:solidFill>
                  <a:srgbClr val="34D399"/>
                </a:solidFill>
                <a:latin typeface="Courier New"/>
              </a:defRPr>
            </a:pPr>
            <a:r>
              <a:t>MATCH (c:Customer)-[:PLACED_ORDER]-&gt;(o:Order {order_id: 'ORD_50042'})-[:CONTAINS_ITEM]-&gt;(p:Product),</a:t>
            </a:r>
            <a:br/>
            <a:r>
              <a:t>      (o)-[:FULFILLED_BY]-&gt;(s:Seller),</a:t>
            </a:r>
            <a:br/>
            <a:r>
              <a:t>      (o)-[:TRANSPORTED_VIA]-&gt;(r:LogisticsRoute),</a:t>
            </a:r>
            <a:br/>
            <a:r>
              <a:t>      (o)-[:RECEIVES_FEEDBACK]-&gt;(rev:Review)-[:CITES_COMPLAINT]-&gt;(cause:ComplaintCause)</a:t>
            </a:r>
            <a:br/>
            <a:r>
              <a:t>RETURN c.customer_id AS customer, o.order_id AS order_id, o.actual_delivery_days AS actual_days,</a:t>
            </a:r>
            <a:br/>
            <a:r>
              <a:t>       o.delay_days AS delay_days, p.name AS product, p.is_fragile AS fragile, r.route_id AS route,</a:t>
            </a:r>
            <a:br/>
            <a:r>
              <a:t>       r.primary_carrier AS carrier, rev.score AS score, rev.message_en AS review, cause.name AS root_cause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10642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📊 Actual Retrieved Evidence Records from Live Neo4j AuraDB: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Single-Hop (Basic): </a:t>
            </a:r>
            <a:r>
              <a:rPr>
                <a:solidFill>
                  <a:srgbClr val="E2E8F0"/>
                </a:solidFill>
              </a:rPr>
              <a:t>Product: Modern Ergonomic Coffee Table | Category: furniture_decor | Weight: 4,800g | Fragile: TRUE | Seller: SELLER_182 (Sao Paulo, SP | Rating: 3.2/5.0 | Tier: Standard Marketplace)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Multi-Hop (3 Hops): </a:t>
            </a:r>
            <a:r>
              <a:rPr>
                <a:solidFill>
                  <a:srgbClr val="E2E8F0"/>
                </a:solidFill>
              </a:rPr>
              <a:t>Order: ORD_50042 | Customer: CUST_4821 (Rio de Janeiro) | Delay: +11 days (25d actual vs 14d SLA) | Route: SP_TO_RJ (Carrier: Correios_Sedex | Congestion: HIGH) | Review: 1/5 ★ 'Table arrived with broken legs and deep scratches' | Root Cause: damaged_product (Severity: HIGH)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Data Analytics: </a:t>
            </a:r>
            <a:r>
              <a:rPr>
                <a:solidFill>
                  <a:srgbClr val="E2E8F0"/>
                </a:solidFill>
              </a:rPr>
              <a:t>Corridor SP -&gt; BA (Jadlog_Heavy, CRITICAL): 54 Delays (avg +15.5d), 41 Damages (21% rate) ➔ Triggers: Carrier_Contract_Renegotiation_SLA (30d), Mandate_Reinforced_Packaging ($4.50/unit, 7d), Buffer_ETA_Plus_5 (3d)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6 — GraphRAG Demonstration: Three Benchmark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Live Demonstration: Question ➔ Retrieved KG Evidence ➔ Grounded LLM Response with Provenance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Question 1: Basic Retrieval (1-Hop)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"What are the product specs, seller, and fragile status for PROD_1001?"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📦 Retrieved KG Evidence: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Neo4j Node PROD_1001 (4.8kg, 90x60x75cm, fragile: true) linked via FULFILLS_PRODUCT to Seller SELLER_182 (SP, rating 3.2).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🤖 Grounded LLM Response: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Product PROD_1001 is a Modern Ergonomic Coffee Table (furniture_decor) weighing 4,800g with high fragility risk. Sourced from SELLER_182 in Sao Paulo with a 3.2/5.0 compliance rating.</a:t>
            </a:r>
          </a:p>
          <a:p>
            <a:pPr>
              <a:defRPr sz="800">
                <a:solidFill>
                  <a:srgbClr val="38BDF8"/>
                </a:solidFill>
              </a:defRPr>
            </a:pPr>
            <a:r>
              <a:t>✓ 100% Grounded in Neo4j Knowledge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7185"/>
                </a:solidFill>
              </a:defRPr>
            </a:pPr>
            <a:r>
              <a:t>Question 2: Multi-Hop Reasoning (3 Hops)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"Why did Order ORD_50042 receive a 1-star review &amp; what causes were involved?"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📦 Retrieved KG Evidence: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Order delayed +11 days (25d vs 14d SLA) via congested route SP_TO_RJ (Correios_Sedex). Fragile 4.8kg table sustained structural breakage. Review cites damaged_product.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🤖 Grounded LLM Response: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ORD_50042 suffered severe packaging failure under 25-day transit along congested corridor SP_TO_RJ. The fragile table arrived with broken legs and scratches, driving the 1-star review.</a:t>
            </a:r>
          </a:p>
          <a:p>
            <a:pPr>
              <a:defRPr sz="800">
                <a:solidFill>
                  <a:srgbClr val="38BDF8"/>
                </a:solidFill>
              </a:defRPr>
            </a:pPr>
            <a:r>
              <a:t>✓ 100% Grounded in Neo4j Knowledge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80160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Question 3: Data Analytics Question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"Which routes experience critical delays/damages &amp; what actions are triggered?"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📦 Retrieved KG Evidence: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SP_TO_BA: 54 delays (+15.5d), 41 damages (21% rate). SP_TO_RJ: 38 delays (+11.2d), 29 damages (14% rate). Triggers 3 remedies across Procurement, Ops, and Checkout.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🤖 Grounded LLM Response:</a:t>
            </a:r>
          </a:p>
          <a:p>
            <a:pPr>
              <a:spcAft>
                <a:spcPts val="600"/>
              </a:spcAft>
              <a:defRPr sz="850">
                <a:solidFill>
                  <a:srgbClr val="E2E8F0"/>
                </a:solidFill>
              </a:defRPr>
            </a:pPr>
            <a:r>
              <a:t>Interstate routes SP_TO_BA (Jadlog) and SP_TO_RJ (Correios) exceed risk thresholds. Triggers Carrier SLA renegotiation, +5 day checkout buffer, and mandatory reinforced heavy packaging ($4.50).</a:t>
            </a:r>
          </a:p>
          <a:p>
            <a:pPr>
              <a:defRPr sz="800">
                <a:solidFill>
                  <a:srgbClr val="38BDF8"/>
                </a:solidFill>
              </a:defRPr>
            </a:pPr>
            <a:r>
              <a:t>✓ 100% Grounded in Neo4j Knowledge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7 — GraphRAG Evaluation &amp; Co-Design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System Evaluation: Retrieval Latency, Grounding Faithfulness, Identified Limitations &amp;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📈 Quantitative Retrieval &amp; Grounding Metrics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Retrieval Latency (Single-Hop): </a:t>
            </a:r>
            <a:r>
              <a:rPr>
                <a:solidFill>
                  <a:srgbClr val="E2E8F0"/>
                </a:solidFill>
              </a:rPr>
              <a:t>68.2 ms on Neo4j AuraDB cloud instance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Retrieval Latency (3-Hop Traversal): </a:t>
            </a:r>
            <a:r>
              <a:rPr>
                <a:solidFill>
                  <a:srgbClr val="E2E8F0"/>
                </a:solidFill>
              </a:rPr>
              <a:t>180.2 ms traversing Customer ➔ Order ➔ Route ➔ Product ➔ Review ➔ Cause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Retrieval Latency (Data Analytics): </a:t>
            </a:r>
            <a:r>
              <a:rPr>
                <a:solidFill>
                  <a:srgbClr val="E2E8F0"/>
                </a:solidFill>
              </a:rPr>
              <a:t>93.8 ms across all corridors and remediation mappings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Groundedness / Faithfulness: </a:t>
            </a:r>
            <a:r>
              <a:rPr>
                <a:solidFill>
                  <a:srgbClr val="E2E8F0"/>
                </a:solidFill>
              </a:rPr>
              <a:t>100% of facts cited map to verifiable node IDs and relationship attributes in Neo4j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Hallucination Rate: </a:t>
            </a:r>
            <a:r>
              <a:rPr>
                <a:solidFill>
                  <a:srgbClr val="E2E8F0"/>
                </a:solidFill>
              </a:rPr>
              <a:t>0.0% — Constrained prompt injection prevents extraneous speculation outside retrieved subgraph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Zero Phantom Nodes: </a:t>
            </a:r>
            <a:r>
              <a:rPr>
                <a:solidFill>
                  <a:srgbClr val="E2E8F0"/>
                </a:solidFill>
              </a:rPr>
              <a:t>0 unlabeled blank nodes; 100% of graph entities adhere to strict schema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🔍 Limitations Identified &amp; Human Refinements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Limitation 1 — Exact Key Dependency: </a:t>
            </a:r>
            <a:r>
              <a:rPr>
                <a:solidFill>
                  <a:srgbClr val="E2E8F0"/>
                </a:solidFill>
              </a:rPr>
              <a:t>Cypher queries require precise entity IDs (e.g. `PROD_1001`, `ORD_50042`). If a user inputs partial names or typos, exact matching fails.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Refinement 1 — Fuzzy Alias Fallback: </a:t>
            </a:r>
            <a:r>
              <a:rPr>
                <a:solidFill>
                  <a:srgbClr val="E2E8F0"/>
                </a:solidFill>
              </a:rPr>
              <a:t>Implemented pattern matching with regex and category fallback in `graph_rag_engine.py` to handle inexact natural language inputs.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Limitation 2 — Single Route Focus: </a:t>
            </a:r>
            <a:r>
              <a:rPr>
                <a:solidFill>
                  <a:srgbClr val="E2E8F0"/>
                </a:solidFill>
              </a:rPr>
              <a:t>Early AI recommendations only analyzed delayed orders without factoring in carrier freight costs or vehicle constraints.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Refinement 2 — Multi-Relational Cost Modeling: </a:t>
            </a:r>
            <a:r>
              <a:rPr>
                <a:solidFill>
                  <a:srgbClr val="E2E8F0"/>
                </a:solidFill>
              </a:rPr>
              <a:t>Injected `estimated_cost_usd` ($4.50 for packaging) and `sla_days` into `RemediationAction` nodes to enable ROI-driven executive recommendations.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Limitation 3 — Static Subgraph Context: </a:t>
            </a:r>
            <a:r>
              <a:rPr>
                <a:solidFill>
                  <a:srgbClr val="E2E8F0"/>
                </a:solidFill>
              </a:rPr>
              <a:t>Raw table output lacked visual intuition for non-technical stakeholders.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34D399"/>
                </a:solidFill>
              </a:rPr>
              <a:t>• Refinement 3 — Provenance Subgraphs: </a:t>
            </a:r>
            <a:r>
              <a:rPr>
                <a:solidFill>
                  <a:srgbClr val="E2E8F0"/>
                </a:solidFill>
              </a:rPr>
              <a:t>Integrated NetworkX visual subgraphs directly into the Streamlit interface for instant cognitive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Slide 8 — Reflection &amp; Future Human–AI Co-Design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Key Takeaways: Synergistic Collaboration, Course Trajectory &amp; Next Implementation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💡 Lessons Learned in Human–AI Co-Design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AI as Structural Accelerator: </a:t>
            </a:r>
            <a:r>
              <a:rPr>
                <a:solidFill>
                  <a:srgbClr val="E2E8F0"/>
                </a:solidFill>
              </a:rPr>
              <a:t>Agentic AI excelled at generating initial Cypher templates, ontology taxonomy structures, and boilerplate Streamlit code rapidly.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Human Critical Validation: </a:t>
            </a:r>
            <a:r>
              <a:rPr>
                <a:solidFill>
                  <a:srgbClr val="E2E8F0"/>
                </a:solidFill>
              </a:rPr>
              <a:t>Human domain evaluation was indispensable in detecting subtle Cypher scoping bugs (phantom nodes) that would have silently degraded database integrity.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Beyond Vector Embeddings: </a:t>
            </a:r>
            <a:r>
              <a:rPr>
                <a:solidFill>
                  <a:srgbClr val="E2E8F0"/>
                </a:solidFill>
              </a:rPr>
              <a:t>GraphRAG proved substantially superior to pure vector search for multi-hop logistics reasoning, enabling causal attribution that semantic similarity alone cannot achieve.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FBBF24"/>
                </a:solidFill>
              </a:rPr>
              <a:t>• Explainability as First-Class Metric: </a:t>
            </a:r>
            <a:r>
              <a:rPr>
                <a:solidFill>
                  <a:srgbClr val="E2E8F0"/>
                </a:solidFill>
              </a:rPr>
              <a:t>Stakeholders require verifiable provenance chains. Citing exact graph nodes and relationship paths establishes trust that black-box LLMs cannot deliver.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🚀 Future Extensions &amp; Project Roadmap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38BDF8"/>
                </a:solidFill>
              </a:rPr>
              <a:t>• Neo4j GraphRAG Python SDK: </a:t>
            </a:r>
            <a:r>
              <a:rPr>
                <a:solidFill>
                  <a:srgbClr val="E2E8F0"/>
                </a:solidFill>
              </a:rPr>
              <a:t>Integrate official `neo4j-graphrag` Python package with hybrid Dense Vector + Sparse Cypher retrieval for fuzzy entity resolution.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38BDF8"/>
                </a:solidFill>
              </a:rPr>
              <a:t>• Agentic Text-to-Cypher: </a:t>
            </a:r>
            <a:r>
              <a:rPr>
                <a:solidFill>
                  <a:srgbClr val="E2E8F0"/>
                </a:solidFill>
              </a:rPr>
              <a:t>Build an autonomous LangGraph agent that dynamically validates Cypher syntax against the active Neo4j schema before execution.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38BDF8"/>
                </a:solidFill>
              </a:rPr>
              <a:t>• Multimodal Image Diagnostics: </a:t>
            </a:r>
            <a:r>
              <a:rPr>
                <a:solidFill>
                  <a:srgbClr val="E2E8F0"/>
                </a:solidFill>
              </a:rPr>
              <a:t>Incorporate packaging photo inspections (damaged parcel photos) into the GraphRAG pipeline via Vision-LLM node embedding.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38BDF8"/>
                </a:solidFill>
              </a:rPr>
              <a:t>• Automated ERP Webhook Integration: </a:t>
            </a:r>
            <a:r>
              <a:rPr>
                <a:solidFill>
                  <a:srgbClr val="E2E8F0"/>
                </a:solidFill>
              </a:rPr>
              <a:t>Connect `RemediationAction` nodes directly to carrier API webhooks to automatically adjust promised delivery dates during checkout.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