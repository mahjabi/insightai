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1: Big Data Pipeline &amp; Scalable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End-to-End Orchestration: From 1,702 Olist Orders to Community Subgraphs &amp; Multimodal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46888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800" b="1">
                <a:solidFill>
                  <a:srgbClr val="38BDF8"/>
                </a:solidFill>
                <a:latin typeface="Calibri"/>
              </a:defRPr>
            </a:pPr>
            <a:r>
              <a:t>1,702 Orders</a:t>
            </a:r>
          </a:p>
          <a:p>
            <a:pPr algn="ctr">
              <a:defRPr sz="1000">
                <a:solidFill>
                  <a:srgbClr val="E2E8F0"/>
                </a:solidFill>
                <a:latin typeface="Calibri"/>
              </a:defRPr>
            </a:pPr>
            <a:r>
              <a:t>Olist Brazilian 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280160"/>
            <a:ext cx="246888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800" b="1">
                <a:solidFill>
                  <a:srgbClr val="34D399"/>
                </a:solidFill>
                <a:latin typeface="Calibri"/>
              </a:defRPr>
            </a:pPr>
            <a:r>
              <a:t>37 Neo4j Nodes</a:t>
            </a:r>
          </a:p>
          <a:p>
            <a:pPr algn="ctr">
              <a:defRPr sz="1000">
                <a:solidFill>
                  <a:srgbClr val="E2E8F0"/>
                </a:solidFill>
                <a:latin typeface="Calibri"/>
              </a:defRPr>
            </a:pPr>
            <a:r>
              <a:t>AuraDB Live 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246888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800" b="1">
                <a:solidFill>
                  <a:srgbClr val="FBBF24"/>
                </a:solidFill>
                <a:latin typeface="Calibri"/>
              </a:defRPr>
            </a:pPr>
            <a:r>
              <a:t>3 Subgraphs</a:t>
            </a:r>
          </a:p>
          <a:p>
            <a:pPr algn="ctr">
              <a:defRPr sz="1000">
                <a:solidFill>
                  <a:srgbClr val="E2E8F0"/>
                </a:solidFill>
                <a:latin typeface="Calibri"/>
              </a:defRPr>
            </a:pPr>
            <a:r>
              <a:t>Operational Partitions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280160"/>
            <a:ext cx="2468880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800" b="1">
                <a:solidFill>
                  <a:srgbClr val="A78BFA"/>
                </a:solidFill>
                <a:latin typeface="Calibri"/>
              </a:defRPr>
            </a:pPr>
            <a:r>
              <a:t>4 Modalities</a:t>
            </a:r>
          </a:p>
          <a:p>
            <a:pPr algn="ctr">
              <a:defRPr sz="1000">
                <a:solidFill>
                  <a:srgbClr val="E2E8F0"/>
                </a:solidFill>
                <a:latin typeface="Calibri"/>
              </a:defRPr>
            </a:pPr>
            <a:r>
              <a:t>Text • Audio • Charts • Maps</a:t>
            </a:r>
          </a:p>
        </p:txBody>
      </p:sp>
      <p:pic>
        <p:nvPicPr>
          <p:cNvPr id="10" name="Picture 9" descr="c4_ai_dat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10698480" cy="61134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2: Dual-Perspective System Design (Operations vs Customer)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Balancing Corporate Delay Auditing with Customer Pre-Purchase Inquiry &amp; Risk Protection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297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🏢 PERSPECTIVE 1: COMPANY OPERATIONS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Target Users: Logistics Directors, Hub Managers, Supply Chain Auditors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Primary Objective: Diagnose late deliveries, identify bottleneck hubs, and reroute orders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Core Graph Engine: Multi-hop Cypher queries across Linehaul Carriers &amp; Transit Nodes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GNN Topological Risk: GraphSAGE 2-hop aggregation raises delayed order risk (+87.3%)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Remediation Action: Automated trigger: ACT_REROUTE for congested highway corridors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4297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500" b="1">
                <a:solidFill>
                  <a:srgbClr val="34D399"/>
                </a:solidFill>
              </a:defRPr>
            </a:pPr>
            <a:r>
              <a:t>🛍️ PERSPECTIVE 2: CUSTOMER PRE-PURCHASE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Target Users: Online Shoppers, Pre-Purchase Cart Inquirers, B2C Buyers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Primary Objective: Assess delivery risk, damage likelihood, and review satisfaction beforehand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Voice GenAI Output: Synthesizes spoken audio explanation directly answering customer queries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Product Recommendation: Traverses KG to substitute risky long-haul items with safe local stock</a:t>
            </a:r>
          </a:p>
          <a:p>
            <a:pPr>
              <a:spcBef>
                <a:spcPts val="1000"/>
              </a:spcBef>
              <a:defRPr sz="1150">
                <a:solidFill>
                  <a:srgbClr val="E2E8F0"/>
                </a:solidFill>
              </a:defRPr>
            </a:pPr>
            <a:r>
              <a:t>• Cost &amp; Safety Benefit: Saves $18.50 in heavy pallet freight; cuts damage risk from 28.4% to 1.2%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806440"/>
            <a:ext cx="10698480" cy="685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>
                <a:solidFill>
                  <a:srgbClr val="FBBF24"/>
                </a:solidFill>
              </a:defRPr>
            </a:pPr>
            <a:r>
              <a:t>Key Architectural Synergy: The same underlying Knowledge Graph powers both Operational Root-Cause Diagnosis and Customer Pre-Purchase Advisory without duplicating data pipelines.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3: Proposed Community Subgraph Partitioning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Separating Factual Knowledge Graph from AI Recommendations &amp; Formalizing Physical Gateways</a:t>
            </a:r>
          </a:p>
        </p:txBody>
      </p:sp>
      <p:pic>
        <p:nvPicPr>
          <p:cNvPr id="6" name="Picture 5" descr="subgraph_clustering_vis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7498079" cy="51549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325880"/>
            <a:ext cx="3017520" cy="51206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PROFESSOR FEEDBACK IMPLEMENTED</a:t>
            </a:r>
          </a:p>
          <a:p>
            <a:pPr>
              <a:spcBef>
                <a:spcPts val="800"/>
              </a:spcBef>
              <a:defRPr sz="1100" b="1">
                <a:solidFill>
                  <a:srgbClr val="34D399"/>
                </a:solidFill>
              </a:defRPr>
            </a:pPr>
            <a:r>
              <a:t>✓ AI Layer Separated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ACT_REROUTE removed from factual nodes; placed in AI decision layer.</a:t>
            </a:r>
          </a:p>
          <a:p>
            <a:pPr>
              <a:spcBef>
                <a:spcPts val="800"/>
              </a:spcBef>
              <a:defRPr sz="1100" b="1">
                <a:solidFill>
                  <a:srgbClr val="34D399"/>
                </a:solidFill>
              </a:defRPr>
            </a:pPr>
            <a:r>
              <a:t>✓ Physical Gateways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Replaced abstract clearing node with HUB_SP_CENTRAL &amp; LINEHAUL_GATEWAY.</a:t>
            </a:r>
          </a:p>
          <a:p>
            <a:pPr>
              <a:spcBef>
                <a:spcPts val="800"/>
              </a:spcBef>
              <a:defRPr sz="1100" b="1">
                <a:solidFill>
                  <a:srgbClr val="34D399"/>
                </a:solidFill>
              </a:defRPr>
            </a:pPr>
            <a:r>
              <a:t>✓ Cypher Edges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All relationships explicitly labeled: SHIPPED_VIA, TRANSFERS_TO, CONTAINS.</a:t>
            </a:r>
          </a:p>
          <a:p>
            <a:pPr>
              <a:spcBef>
                <a:spcPts val="800"/>
              </a:spcBef>
              <a:defRPr sz="1100" b="1">
                <a:solidFill>
                  <a:srgbClr val="34D399"/>
                </a:solidFill>
              </a:defRPr>
            </a:pPr>
            <a:r>
              <a:t>✓ Visible Hierarchy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National Parent Graph partitioned into 3 functional child communities.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4: Dynamic Community GraphRAG vs. Static GraphSAGE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Why Dynamic Community Subgraph Switching Outperforms Static Whole-Graph Node Embeddings</a:t>
            </a:r>
          </a:p>
        </p:txBody>
      </p:sp>
      <p:pic>
        <p:nvPicPr>
          <p:cNvPr id="6" name="Picture 5" descr="c4_dynamic_graphrag_vs_g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10698480" cy="6166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5: GenAI Voice Output &amp; Graph-Grounded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Interactive Demonstration: Customer Inquires About Heavy Wooden Table → Subgraph C2 Retrieval</a:t>
            </a:r>
          </a:p>
        </p:txBody>
      </p:sp>
      <p:pic>
        <p:nvPicPr>
          <p:cNvPr id="6" name="Picture 5" descr="c4_customer_genai_voice_recommen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10698480" cy="60810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6: Empirical Big Data Analytics &amp; Regional Disparities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Quantitative Baseline from 1,702 Brazilian Olist Orders: State Disparities &amp; Review Impact</a:t>
            </a:r>
          </a:p>
        </p:txBody>
      </p:sp>
      <p:pic>
        <p:nvPicPr>
          <p:cNvPr id="6" name="Picture 5" descr="c4_ai_analytics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7132320" cy="407561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46720" y="1325880"/>
            <a:ext cx="3383280" cy="1143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lIns="182880"/>
          <a:lstStyle/>
          <a:p>
            <a:pPr algn="ctr">
              <a:defRPr sz="1700" b="1">
                <a:solidFill>
                  <a:srgbClr val="FB7185"/>
                </a:solidFill>
              </a:defRPr>
            </a:pPr>
            <a:r>
              <a:t>44.07%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Overall Delay Rate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High failure rate driven by interstate corridors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606039"/>
            <a:ext cx="3383280" cy="1143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lIns="182880"/>
          <a:lstStyle/>
          <a:p>
            <a:pPr algn="ctr">
              <a:defRPr sz="1700" b="1">
                <a:solidFill>
                  <a:srgbClr val="FBBF24"/>
                </a:solidFill>
              </a:defRPr>
            </a:pPr>
            <a:r>
              <a:t>51.2% vs 8.6%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State Disparity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SP-&gt;BA delay rate is 6x worse than SP local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886200"/>
            <a:ext cx="3383280" cy="1143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lIns="182880"/>
          <a:lstStyle/>
          <a:p>
            <a:pPr algn="ctr">
              <a:defRPr sz="1700" b="1">
                <a:solidFill>
                  <a:srgbClr val="38BDF8"/>
                </a:solidFill>
              </a:defRPr>
            </a:pPr>
            <a:r>
              <a:t>13.80 Days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Avg Delivery Time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Heavy freight takes 18.4 days average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5166360"/>
            <a:ext cx="3383280" cy="1143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lIns="182880"/>
          <a:lstStyle/>
          <a:p>
            <a:pPr algn="ctr">
              <a:defRPr sz="1700" b="1">
                <a:solidFill>
                  <a:srgbClr val="A78BFA"/>
                </a:solidFill>
              </a:defRPr>
            </a:pPr>
            <a:r>
              <a:t>-0.42 Corr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Delay vs Review Score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Late orders drop review average to 1.6 stars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7: Multimodal Generation Architecture &amp; Output Channels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Orchestration of Four Coordinated Modalities Grounded in Verified Graph Evidence</a:t>
            </a:r>
          </a:p>
        </p:txBody>
      </p:sp>
      <p:pic>
        <p:nvPicPr>
          <p:cNvPr id="6" name="Picture 5" descr="c4_multimodal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7132320" cy="407561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46720" y="1325880"/>
            <a:ext cx="3383280" cy="51206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300" b="1">
                <a:solidFill>
                  <a:srgbClr val="A78BFA"/>
                </a:solidFill>
              </a:defRPr>
            </a:pPr>
            <a:r>
              <a:t>FOUR GENERATION CHANNELS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📝 1. Narrative Text (GenAI)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Generates structured risk assessments and Cypher audit proofs with provenance.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🎙️ 2. Spoken Audio (TTS)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Synthesizes customer-friendly voice briefings directly answering pre-purchase inquiries.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📊 3. Interactive Charts (Plotly)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Visualizes dynamic satisfaction gauges and GNN neighborhood attention weights.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🗺️ 4. Geospatial Heatmaps (Folium)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Plots transit route GPS traces and interstate delay bottleneck corridors.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8: Interactive Cockpit &amp; Application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Deploying Human-AI Co-Design across 4 Interactive Perspectives in Streamlit</a:t>
            </a:r>
          </a:p>
        </p:txBody>
      </p:sp>
      <p:pic>
        <p:nvPicPr>
          <p:cNvPr id="6" name="Picture 5" descr="c4_application_wire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10698480" cy="611341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9: Comparative Analysis: Human Design vs. AI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Rigorous Four-Dimension Evaluation across Modularity, Routing Precision, and Grounding</a:t>
            </a:r>
          </a:p>
        </p:txBody>
      </p:sp>
      <p:pic>
        <p:nvPicPr>
          <p:cNvPr id="6" name="Picture 5" descr="c4_human_vs_ai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7498079" cy="428461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325880"/>
            <a:ext cx="3017520" cy="51206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KEY COMPARATIVE INSIGHTS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Human Strength: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Domain validity, physical gateway semantics, zero hallucinated nodes.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AI Strength: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Rapid multi-modal generation, fast Cypher templating, real-time audio synthesis.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Co-Design Synergy: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Human defines strict boundaries; AI accelerates implementation by 4.5x.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Verification: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All AI outputs validated against live SQLite and Neo4j Aura database.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2926080" cy="2560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INSIGHTAI • CHALLENGE 4 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Slide 10: Human-AI Co-Design Takeaways &amp; Stage 3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3268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Synthesis of Challenge 4 Stage 2 Achievements and Direct Path to Stage 3 Live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69848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3716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1. AGENTIC AI WORKFLOW &amp; HUMAN SUPERVISION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</a:defRPr>
            </a:pPr>
            <a:r>
              <a:t>• AI acted as an implementation accelerator (generating code, audio, Cypher queries, and visual dashboards) while Human provided domain validation and guardrails.</a:t>
            </a:r>
            <a:br/>
            <a:r>
              <a:t>• When professor identified flaws (ACT_REROUTE as node, abstract payment bridges), human corrected AI to enforce physical gateway semantics and separate recommendation layers.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37160"/>
          <a:lstStyle/>
          <a:p>
            <a:pPr algn="ctr">
              <a:defRPr sz="1300" b="1">
                <a:solidFill>
                  <a:srgbClr val="FB7185"/>
                </a:solidFill>
              </a:defRPr>
            </a:pPr>
            <a:r>
              <a:t>2. IDENTIFIED ARCHITECTURAL LIMITATIONS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</a:defRPr>
            </a:pPr>
            <a:r>
              <a:t>• Static GNN embeddings lack real-time conversational adaptability compared to Dynamic Subgraph Routing.</a:t>
            </a:r>
            <a:br/>
            <a:r>
              <a:t>• Free-tier Neo4j AuraDB memory limits in-memory GDS projection scale; requires offline feature pre-computation.</a:t>
            </a:r>
            <a:br/>
            <a:r>
              <a:t>• Synthetic macOS TTS is lightweight but lacks dynamic voice intonation of commercial ElevenLabs / OpenAI streaming audio.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09160"/>
            <a:ext cx="10698480" cy="1554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37160"/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3. STAGE 3 CO-DESIGN EXECUTION ROADMAP</a:t>
            </a:r>
          </a:p>
          <a:p>
            <a:pPr>
              <a:spcBef>
                <a:spcPts val="400"/>
              </a:spcBef>
              <a:defRPr sz="1050">
                <a:solidFill>
                  <a:srgbClr val="E2E8F0"/>
                </a:solidFill>
              </a:defRPr>
            </a:pPr>
            <a:r>
              <a:t>• Milestone 1: Live Neo4j GDS Leiden community detection run directly on AuraDB graph with verified modularity Q calculation.</a:t>
            </a:r>
            <a:br/>
            <a:r>
              <a:t>• Milestone 2: Deploy Unified Streamlit v4.0 Cockpit with active audio player, dynamic Cypher router, and product substitution engine.</a:t>
            </a:r>
            <a:br/>
            <a:r>
              <a:t>• Milestone 3: Quantitative user evaluation benchmark measuring task completion time and cognitive load across human vs AI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