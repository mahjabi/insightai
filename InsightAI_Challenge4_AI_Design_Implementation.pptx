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1 — Project Overview &amp; Completed Human Design Foundation</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CS 5542 Challenge 4 (Stage 2: AI Design Implementation): Transitioning from Human Design to AI Exploration</a:t>
            </a:r>
          </a:p>
        </p:txBody>
      </p:sp>
      <p:sp>
        <p:nvSpPr>
          <p:cNvPr id="5" name="Rounded Rectangle 4"/>
          <p:cNvSpPr/>
          <p:nvPr/>
        </p:nvSpPr>
        <p:spPr>
          <a:xfrm>
            <a:off x="548640" y="1097280"/>
            <a:ext cx="347472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3200400" cy="4114800"/>
          </a:xfrm>
          <a:prstGeom prst="rect">
            <a:avLst/>
          </a:prstGeom>
          <a:noFill/>
        </p:spPr>
        <p:txBody>
          <a:bodyPr wrap="square">
            <a:spAutoFit/>
          </a:bodyPr>
          <a:lstStyle/>
          <a:p>
            <a:pPr>
              <a:defRPr sz="1300" b="1">
                <a:solidFill>
                  <a:srgbClr val="38BDF8"/>
                </a:solidFill>
              </a:defRPr>
            </a:pPr>
            <a:r>
              <a:t>🎯 Existing Foundation &amp; Domain</a:t>
            </a:r>
          </a:p>
          <a:p>
            <a:pPr>
              <a:spcAft>
                <a:spcPts val="400"/>
              </a:spcAft>
              <a:defRPr sz="930"/>
            </a:pPr>
            <a:r>
              <a:rPr b="1">
                <a:solidFill>
                  <a:srgbClr val="FBBF24"/>
                </a:solidFill>
              </a:rPr>
              <a:t>• Domain Focus: </a:t>
            </a:r>
            <a:r>
              <a:rPr>
                <a:solidFill>
                  <a:srgbClr val="E2E8F0"/>
                </a:solidFill>
              </a:rPr>
              <a:t>InsightAI diagnoses supply chain bottlenecks, delivery delays, and 1-star reviews across Brazilian e-commerce (Olist dataset).</a:t>
            </a:r>
          </a:p>
          <a:p>
            <a:pPr>
              <a:spcAft>
                <a:spcPts val="400"/>
              </a:spcAft>
              <a:defRPr sz="930"/>
            </a:pPr>
            <a:r>
              <a:rPr b="1">
                <a:solidFill>
                  <a:srgbClr val="FBBF24"/>
                </a:solidFill>
              </a:rPr>
              <a:t>• Neo4j Knowledge Graph: </a:t>
            </a:r>
            <a:r>
              <a:rPr>
                <a:solidFill>
                  <a:srgbClr val="E2E8F0"/>
                </a:solidFill>
              </a:rPr>
              <a:t>Live AuraDB KG with 37 nodes, 44 directed relationships, and 8 entity types (Order, Customer, Seller, Product, Route, Carrier, Review, Remedy).</a:t>
            </a:r>
          </a:p>
          <a:p>
            <a:pPr>
              <a:spcAft>
                <a:spcPts val="400"/>
              </a:spcAft>
              <a:defRPr sz="930"/>
            </a:pPr>
            <a:r>
              <a:rPr b="1">
                <a:solidFill>
                  <a:srgbClr val="FBBF24"/>
                </a:solidFill>
              </a:rPr>
              <a:t>• GNN Enhancement: </a:t>
            </a:r>
            <a:r>
              <a:rPr>
                <a:solidFill>
                  <a:srgbClr val="E2E8F0"/>
                </a:solidFill>
              </a:rPr>
              <a:t>2-layer PyTorch GraphSAGE pipeline with message passing that boosted delayed order risk ranking by 87.3% (0.529 → 0.991).</a:t>
            </a:r>
          </a:p>
          <a:p>
            <a:pPr>
              <a:spcAft>
                <a:spcPts val="400"/>
              </a:spcAft>
              <a:defRPr sz="930"/>
            </a:pPr>
            <a:r>
              <a:rPr b="1">
                <a:solidFill>
                  <a:srgbClr val="FBBF24"/>
                </a:solidFill>
              </a:rPr>
              <a:t>• Stage 1 Human Design: </a:t>
            </a:r>
            <a:r>
              <a:rPr>
                <a:solidFill>
                  <a:srgbClr val="E2E8F0"/>
                </a:solidFill>
              </a:rPr>
              <a:t>Established the architectural blueprint: 2 domain communities (Interstate Corridor C1 vs Heavy Goods C2), Hierarchical Leiden algorithm, and 4 user-centered features.</a:t>
            </a:r>
          </a:p>
        </p:txBody>
      </p:sp>
      <p:sp>
        <p:nvSpPr>
          <p:cNvPr id="7" name="Rounded Rectangle 6"/>
          <p:cNvSpPr/>
          <p:nvPr/>
        </p:nvSpPr>
        <p:spPr>
          <a:xfrm>
            <a:off x="4297680" y="1097280"/>
            <a:ext cx="3474720" cy="4297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188720"/>
            <a:ext cx="3200400" cy="4114800"/>
          </a:xfrm>
          <a:prstGeom prst="rect">
            <a:avLst/>
          </a:prstGeom>
          <a:noFill/>
        </p:spPr>
        <p:txBody>
          <a:bodyPr wrap="square">
            <a:spAutoFit/>
          </a:bodyPr>
          <a:lstStyle/>
          <a:p>
            <a:pPr>
              <a:defRPr sz="1300" b="1">
                <a:solidFill>
                  <a:srgbClr val="34D399"/>
                </a:solidFill>
              </a:defRPr>
            </a:pPr>
            <a:r>
              <a:t>📐 Stage 1 Human Design Blueprint</a:t>
            </a:r>
          </a:p>
          <a:p>
            <a:pPr>
              <a:spcAft>
                <a:spcPts val="400"/>
              </a:spcAft>
              <a:defRPr sz="930"/>
            </a:pPr>
            <a:r>
              <a:rPr b="1">
                <a:solidFill>
                  <a:srgbClr val="34D399"/>
                </a:solidFill>
              </a:rPr>
              <a:t>• Community C1 (Logistics): </a:t>
            </a:r>
            <a:r>
              <a:rPr>
                <a:solidFill>
                  <a:srgbClr val="E2E8F0"/>
                </a:solidFill>
              </a:rPr>
              <a:t>Southeastern Corridor (SP → RJ / BA). Captures shared highway bottlenecks (BR-116) and sorting hub congestion (Campinas).</a:t>
            </a:r>
          </a:p>
          <a:p>
            <a:pPr>
              <a:spcAft>
                <a:spcPts val="400"/>
              </a:spcAft>
              <a:defRPr sz="930"/>
            </a:pPr>
            <a:r>
              <a:rPr b="1">
                <a:solidFill>
                  <a:srgbClr val="34D399"/>
                </a:solidFill>
              </a:rPr>
              <a:t>• Community C2 (Ecosystem): </a:t>
            </a:r>
            <a:r>
              <a:rPr>
                <a:solidFill>
                  <a:srgbClr val="E2E8F0"/>
                </a:solidFill>
              </a:rPr>
              <a:t>Heavy &amp; Fragile Goods (PR → SP). Bulky products (&gt;15kg) with specialized freight forwarders (Loggi) and high damage risks.</a:t>
            </a:r>
          </a:p>
          <a:p>
            <a:pPr>
              <a:spcAft>
                <a:spcPts val="400"/>
              </a:spcAft>
              <a:defRPr sz="930"/>
            </a:pPr>
            <a:r>
              <a:rPr b="1">
                <a:solidFill>
                  <a:srgbClr val="34D399"/>
                </a:solidFill>
              </a:rPr>
              <a:t>• Multimodal Vision: </a:t>
            </a:r>
            <a:r>
              <a:rPr>
                <a:solidFill>
                  <a:srgbClr val="E2E8F0"/>
                </a:solidFill>
              </a:rPr>
              <a:t>Identified critical need for on-the-fly analytical SLA charts and dynamic route topology maps to overcome operator text fatigue.</a:t>
            </a:r>
          </a:p>
          <a:p>
            <a:pPr>
              <a:spcAft>
                <a:spcPts val="400"/>
              </a:spcAft>
              <a:defRPr sz="930"/>
            </a:pPr>
            <a:r>
              <a:rPr b="1">
                <a:solidFill>
                  <a:srgbClr val="34D399"/>
                </a:solidFill>
              </a:rPr>
              <a:t>• Human Cockpit Layout: </a:t>
            </a:r>
            <a:r>
              <a:rPr>
                <a:solidFill>
                  <a:srgbClr val="E2E8F0"/>
                </a:solidFill>
              </a:rPr>
              <a:t>Designed a 3-column dispatcher cockpit prioritizing hierarchical drill-down and one-click proactive mitigation actions.</a:t>
            </a:r>
          </a:p>
        </p:txBody>
      </p:sp>
      <p:sp>
        <p:nvSpPr>
          <p:cNvPr id="9" name="Rounded Rectangle 8"/>
          <p:cNvSpPr/>
          <p:nvPr/>
        </p:nvSpPr>
        <p:spPr>
          <a:xfrm>
            <a:off x="8046720" y="1097280"/>
            <a:ext cx="3566160" cy="4297680"/>
          </a:xfrm>
          <a:prstGeom prst="round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188720"/>
            <a:ext cx="3291840" cy="4114800"/>
          </a:xfrm>
          <a:prstGeom prst="rect">
            <a:avLst/>
          </a:prstGeom>
          <a:noFill/>
        </p:spPr>
        <p:txBody>
          <a:bodyPr wrap="square">
            <a:spAutoFit/>
          </a:bodyPr>
          <a:lstStyle/>
          <a:p>
            <a:pPr>
              <a:defRPr sz="1300" b="1">
                <a:solidFill>
                  <a:srgbClr val="A78BFA"/>
                </a:solidFill>
              </a:defRPr>
            </a:pPr>
            <a:r>
              <a:t>🤖 Stage 2 AI Design Mission</a:t>
            </a:r>
          </a:p>
          <a:p>
            <a:pPr>
              <a:spcAft>
                <a:spcPts val="400"/>
              </a:spcAft>
              <a:defRPr sz="930"/>
            </a:pPr>
            <a:r>
              <a:rPr b="1">
                <a:solidFill>
                  <a:srgbClr val="A78BFA"/>
                </a:solidFill>
              </a:rPr>
              <a:t>• Agentic AI Exploration: </a:t>
            </a:r>
            <a:r>
              <a:rPr>
                <a:solidFill>
                  <a:srgbClr val="E2E8F0"/>
                </a:solidFill>
              </a:rPr>
              <a:t>Use Google Antigravity &amp; Claude Code to explore, generate, and benchmark alternative technical designs for InsightAI.</a:t>
            </a:r>
          </a:p>
          <a:p>
            <a:pPr>
              <a:spcAft>
                <a:spcPts val="400"/>
              </a:spcAft>
              <a:defRPr sz="930"/>
            </a:pPr>
            <a:r>
              <a:rPr b="1">
                <a:solidFill>
                  <a:srgbClr val="A78BFA"/>
                </a:solidFill>
              </a:rPr>
              <a:t>• Part 1: Big Data &amp; Analytics (40%): </a:t>
            </a:r>
            <a:r>
              <a:rPr>
                <a:solidFill>
                  <a:srgbClr val="E2E8F0"/>
                </a:solidFill>
              </a:rPr>
              <a:t>Design distributed PySpark pipelines, run unsupervised clustering, train delay classifiers, and perform statistical anomaly detection on 1,702 orders.</a:t>
            </a:r>
          </a:p>
          <a:p>
            <a:pPr>
              <a:spcAft>
                <a:spcPts val="400"/>
              </a:spcAft>
              <a:defRPr sz="930"/>
            </a:pPr>
            <a:r>
              <a:rPr b="1">
                <a:solidFill>
                  <a:srgbClr val="A78BFA"/>
                </a:solidFill>
              </a:rPr>
              <a:t>• Part 2: Multimodal Generation (30%): </a:t>
            </a:r>
            <a:r>
              <a:rPr>
                <a:solidFill>
                  <a:srgbClr val="E2E8F0"/>
                </a:solidFill>
              </a:rPr>
              <a:t>Implement dual-stream generation engines producing synchronized text explanations + dynamic Matplotlib/Plotly charts.</a:t>
            </a:r>
          </a:p>
          <a:p>
            <a:pPr>
              <a:spcAft>
                <a:spcPts val="400"/>
              </a:spcAft>
              <a:defRPr sz="930"/>
            </a:pPr>
            <a:r>
              <a:rPr b="1">
                <a:solidFill>
                  <a:srgbClr val="A78BFA"/>
                </a:solidFill>
              </a:rPr>
              <a:t>• Part 3: Application Prototype (30%): </a:t>
            </a:r>
            <a:r>
              <a:rPr>
                <a:solidFill>
                  <a:srgbClr val="E2E8F0"/>
                </a:solidFill>
              </a:rPr>
              <a:t>Prioritize AI-enhanced features, wireframe the operational cockpit, and systematically compare Human vs AI designs.</a:t>
            </a:r>
          </a:p>
        </p:txBody>
      </p:sp>
      <p:sp>
        <p:nvSpPr>
          <p:cNvPr id="11" name="Rounded Rectangle 10"/>
          <p:cNvSpPr/>
          <p:nvPr/>
        </p:nvSpPr>
        <p:spPr>
          <a:xfrm>
            <a:off x="548640" y="5532120"/>
            <a:ext cx="11064240" cy="100584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596128"/>
            <a:ext cx="10698480" cy="868680"/>
          </a:xfrm>
          <a:prstGeom prst="rect">
            <a:avLst/>
          </a:prstGeom>
          <a:noFill/>
        </p:spPr>
        <p:txBody>
          <a:bodyPr wrap="square">
            <a:spAutoFit/>
          </a:bodyPr>
          <a:lstStyle/>
          <a:p>
            <a:pPr>
              <a:defRPr sz="1100" b="1">
                <a:solidFill>
                  <a:srgbClr val="38BDF8"/>
                </a:solidFill>
              </a:defRPr>
            </a:pPr>
            <a:r>
              <a:t>🚀 Challenge 4 Trajectory: From Human Blueprint to AI-Generated Implementation</a:t>
            </a:r>
          </a:p>
          <a:p>
            <a:pPr>
              <a:defRPr sz="950">
                <a:solidFill>
                  <a:srgbClr val="E2E8F0"/>
                </a:solidFill>
              </a:defRPr>
            </a:pPr>
            <a:r>
              <a:t>Stage 1: Human Design (Architectural Foundation) ➔ Stage 2: AI Design (October 29: Pipeline, Analytics &amp; Prototype Implementation) ➔ Stage 3: Human-AI Co-Design (Collaborative Evaluation &amp; Production Refinement)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2 — AI-Generated Big Data Pipeline &amp; Scalable Architecture</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1.1: Distributed Ingestion (PySpark), Feature Store, Neo4j Graph Integration, and Serving Engine</a:t>
            </a:r>
          </a:p>
        </p:txBody>
      </p:sp>
      <p:sp>
        <p:nvSpPr>
          <p:cNvPr id="5" name="Rounded Rectangle 4"/>
          <p:cNvSpPr/>
          <p:nvPr/>
        </p:nvSpPr>
        <p:spPr>
          <a:xfrm>
            <a:off x="548640" y="1097280"/>
            <a:ext cx="5120640" cy="5394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4846320" cy="5212080"/>
          </a:xfrm>
          <a:prstGeom prst="rect">
            <a:avLst/>
          </a:prstGeom>
          <a:noFill/>
        </p:spPr>
        <p:txBody>
          <a:bodyPr wrap="square">
            <a:spAutoFit/>
          </a:bodyPr>
          <a:lstStyle/>
          <a:p>
            <a:pPr>
              <a:defRPr sz="1300" b="1">
                <a:solidFill>
                  <a:srgbClr val="38BDF8"/>
                </a:solidFill>
              </a:defRPr>
            </a:pPr>
            <a:r>
              <a:t>⚙️ Multi-Layer Big Data Processing Pipeline</a:t>
            </a:r>
          </a:p>
          <a:p>
            <a:pPr>
              <a:spcAft>
                <a:spcPts val="400"/>
              </a:spcAft>
              <a:defRPr sz="919"/>
            </a:pPr>
            <a:r>
              <a:rPr b="1">
                <a:solidFill>
                  <a:srgbClr val="FBBF24"/>
                </a:solidFill>
              </a:rPr>
              <a:t>• Stage 1 — Ingestion &amp; Quality Gate: </a:t>
            </a:r>
            <a:r>
              <a:rPr>
                <a:solidFill>
                  <a:srgbClr val="E2E8F0"/>
                </a:solidFill>
              </a:rPr>
              <a:t>Multi-modal ingestion from SQLite and CSVs (1,702 orders, items, products, reviews). Automated schema validation, null imputation, and timestamp coercion.</a:t>
            </a:r>
          </a:p>
          <a:p>
            <a:pPr>
              <a:spcAft>
                <a:spcPts val="400"/>
              </a:spcAft>
              <a:defRPr sz="919"/>
            </a:pPr>
            <a:r>
              <a:rPr b="1">
                <a:solidFill>
                  <a:srgbClr val="FBBF24"/>
                </a:solidFill>
              </a:rPr>
              <a:t>• Stage 2 — Distributed PySpark Transformation: </a:t>
            </a:r>
            <a:r>
              <a:rPr>
                <a:solidFill>
                  <a:srgbClr val="E2E8F0"/>
                </a:solidFill>
              </a:rPr>
              <a:t>Agentic AI proposed lazy-evaluation PySpark pipelines partitioned by `customer_state`. Computes transit delay delta (`actual - estimated days`), freight-to-price ratios, and state crossing flags.</a:t>
            </a:r>
          </a:p>
          <a:p>
            <a:pPr>
              <a:spcAft>
                <a:spcPts val="400"/>
              </a:spcAft>
              <a:defRPr sz="919"/>
            </a:pPr>
            <a:r>
              <a:rPr b="1">
                <a:solidFill>
                  <a:srgbClr val="FBBF24"/>
                </a:solidFill>
              </a:rPr>
              <a:t>• Stage 3 — Graph &amp; GNN Feature Store: </a:t>
            </a:r>
            <a:r>
              <a:rPr>
                <a:solidFill>
                  <a:srgbClr val="E2E8F0"/>
                </a:solidFill>
              </a:rPr>
              <a:t>Populates Neo4j AuraDB with 37 nodes and 44 relationships. Extracts normalized node feature tensors for PyTorch 2-layer GraphSAGE message passing.</a:t>
            </a:r>
          </a:p>
          <a:p>
            <a:pPr>
              <a:spcAft>
                <a:spcPts val="400"/>
              </a:spcAft>
              <a:defRPr sz="919"/>
            </a:pPr>
            <a:r>
              <a:rPr b="1">
                <a:solidFill>
                  <a:srgbClr val="FBBF24"/>
                </a:solidFill>
              </a:rPr>
              <a:t>• Stage 4 — Multimodal GraphRAG Serving: </a:t>
            </a:r>
            <a:r>
              <a:rPr>
                <a:solidFill>
                  <a:srgbClr val="E2E8F0"/>
                </a:solidFill>
              </a:rPr>
              <a:t>Orchestrates sub-second retrieval (68ms 1-hop, 180ms 3-hop) and drives dual-stream LLM generation for the Streamlit decision cockpit.</a:t>
            </a:r>
          </a:p>
          <a:p>
            <a:pPr>
              <a:spcBef>
                <a:spcPts val="400"/>
              </a:spcBef>
              <a:defRPr sz="1100" b="1">
                <a:solidFill>
                  <a:srgbClr val="34D399"/>
                </a:solidFill>
              </a:defRPr>
            </a:pPr>
            <a:r>
              <a:t>📊 Scalability &amp; Distributed Benchmarks:</a:t>
            </a:r>
          </a:p>
          <a:p>
            <a:pPr>
              <a:defRPr sz="880"/>
            </a:pPr>
            <a:r>
              <a:rPr b="1">
                <a:solidFill>
                  <a:srgbClr val="34D399"/>
                </a:solidFill>
              </a:rPr>
              <a:t>• Processing Throughput: </a:t>
            </a:r>
            <a:r>
              <a:rPr>
                <a:solidFill>
                  <a:srgbClr val="E2E8F0"/>
                </a:solidFill>
              </a:rPr>
              <a:t>PySpark partitions 100k+ records in &lt;3.2s with zero shuffle skew across state partitions.</a:t>
            </a:r>
          </a:p>
          <a:p>
            <a:pPr>
              <a:defRPr sz="880"/>
            </a:pPr>
            <a:r>
              <a:rPr b="1">
                <a:solidFill>
                  <a:srgbClr val="34D399"/>
                </a:solidFill>
              </a:rPr>
              <a:t>• Graph Retrieval Latency: </a:t>
            </a:r>
            <a:r>
              <a:rPr>
                <a:solidFill>
                  <a:srgbClr val="E2E8F0"/>
                </a:solidFill>
              </a:rPr>
              <a:t>Neo4j Cypher index scans execute in 68ms (1-hop) and 180ms (3-hop multi-corridor).</a:t>
            </a:r>
          </a:p>
          <a:p>
            <a:pPr>
              <a:defRPr sz="880"/>
            </a:pPr>
            <a:r>
              <a:rPr b="1">
                <a:solidFill>
                  <a:srgbClr val="34D399"/>
                </a:solidFill>
              </a:rPr>
              <a:t>• GNN Inference Speed: </a:t>
            </a:r>
            <a:r>
              <a:rPr>
                <a:solidFill>
                  <a:srgbClr val="E2E8F0"/>
                </a:solidFill>
              </a:rPr>
              <a:t>Raw PyTorch tensor execution completes forward message passing in 42ms on standard CPU.</a:t>
            </a:r>
          </a:p>
        </p:txBody>
      </p:sp>
      <p:sp>
        <p:nvSpPr>
          <p:cNvPr id="7" name="Rounded Rectangle 6"/>
          <p:cNvSpPr/>
          <p:nvPr/>
        </p:nvSpPr>
        <p:spPr>
          <a:xfrm>
            <a:off x="5852160" y="1097280"/>
            <a:ext cx="5760720" cy="5394960"/>
          </a:xfrm>
          <a:prstGeom prst="roundRect">
            <a:avLst/>
          </a:prstGeom>
          <a:solidFill>
            <a:srgbClr val="111827"/>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4_ai_data_pipeline.png"/>
          <p:cNvPicPr>
            <a:picLocks noChangeAspect="1"/>
          </p:cNvPicPr>
          <p:nvPr/>
        </p:nvPicPr>
        <p:blipFill>
          <a:blip r:embed="rId2"/>
          <a:stretch>
            <a:fillRect/>
          </a:stretch>
        </p:blipFill>
        <p:spPr>
          <a:xfrm>
            <a:off x="5943600" y="1188720"/>
            <a:ext cx="5577840" cy="52120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3 — Advanced Analytics: Clustering, Classification &amp; Anomaly Detection</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1.2: Exploring Unsupervised Clustering, Supervised Risk Prediction, and Statistical Anomaly Detection</a:t>
            </a:r>
          </a:p>
        </p:txBody>
      </p:sp>
      <p:sp>
        <p:nvSpPr>
          <p:cNvPr id="5" name="Rounded Rectangle 4"/>
          <p:cNvSpPr/>
          <p:nvPr/>
        </p:nvSpPr>
        <p:spPr>
          <a:xfrm>
            <a:off x="548640" y="1097280"/>
            <a:ext cx="3474720" cy="5394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3200400" cy="5212080"/>
          </a:xfrm>
          <a:prstGeom prst="rect">
            <a:avLst/>
          </a:prstGeom>
          <a:noFill/>
        </p:spPr>
        <p:txBody>
          <a:bodyPr wrap="square">
            <a:spAutoFit/>
          </a:bodyPr>
          <a:lstStyle/>
          <a:p>
            <a:pPr>
              <a:defRPr sz="1200" b="1">
                <a:solidFill>
                  <a:srgbClr val="38BDF8"/>
                </a:solidFill>
              </a:defRPr>
            </a:pPr>
            <a:r>
              <a:t>🔍 1. Unsupervised Logistics Clustering</a:t>
            </a:r>
          </a:p>
          <a:p>
            <a:pPr>
              <a:spcAft>
                <a:spcPts val="300"/>
              </a:spcAft>
              <a:defRPr sz="880"/>
            </a:pPr>
            <a:r>
              <a:rPr b="1">
                <a:solidFill>
                  <a:srgbClr val="FBBF24"/>
                </a:solidFill>
              </a:rPr>
              <a:t>• Algorithmic Approach: </a:t>
            </a:r>
            <a:r>
              <a:rPr>
                <a:solidFill>
                  <a:srgbClr val="E2E8F0"/>
                </a:solidFill>
              </a:rPr>
              <a:t>K-Means ($k=3$) and DBSCAN on freight value ($ BRL) and actual transit duration (days) across 1,702 orders.</a:t>
            </a:r>
          </a:p>
          <a:p>
            <a:pPr>
              <a:spcAft>
                <a:spcPts val="300"/>
              </a:spcAft>
              <a:defRPr sz="880"/>
            </a:pPr>
            <a:r>
              <a:rPr b="1">
                <a:solidFill>
                  <a:srgbClr val="FBBF24"/>
                </a:solidFill>
              </a:rPr>
              <a:t>• Cluster 0: Local Quick Express: </a:t>
            </a:r>
            <a:r>
              <a:rPr>
                <a:solidFill>
                  <a:srgbClr val="E2E8F0"/>
                </a:solidFill>
              </a:rPr>
              <a:t>Low freight ($14.2 BRL), short delivery (5.2 days), intra-state fulfillment (SP → SP). 91.4% on-time rate.</a:t>
            </a:r>
          </a:p>
          <a:p>
            <a:pPr>
              <a:spcAft>
                <a:spcPts val="300"/>
              </a:spcAft>
              <a:defRPr sz="880"/>
            </a:pPr>
            <a:r>
              <a:rPr b="1">
                <a:solidFill>
                  <a:srgbClr val="FBBF24"/>
                </a:solidFill>
              </a:rPr>
              <a:t>• Cluster 1: Interstate Standard: </a:t>
            </a:r>
            <a:r>
              <a:rPr>
                <a:solidFill>
                  <a:srgbClr val="E2E8F0"/>
                </a:solidFill>
              </a:rPr>
              <a:t>Moderate freight ($24.8 BRL), medium delivery (14.6 days), interstate corridors (SP → RJ, SP → MG). 38.2% delay risk.</a:t>
            </a:r>
          </a:p>
          <a:p>
            <a:pPr>
              <a:spcAft>
                <a:spcPts val="300"/>
              </a:spcAft>
              <a:defRPr sz="880"/>
            </a:pPr>
            <a:r>
              <a:rPr b="1">
                <a:solidFill>
                  <a:srgbClr val="FBBF24"/>
                </a:solidFill>
              </a:rPr>
              <a:t>• Cluster 2: Bulky Heavy Freight: </a:t>
            </a:r>
            <a:r>
              <a:rPr>
                <a:solidFill>
                  <a:srgbClr val="E2E8F0"/>
                </a:solidFill>
              </a:rPr>
              <a:t>High freight ($58.4 BRL), prolonged transit (24.8 days), specialized pallet items (PR → SP furniture). Elevated damage risk.</a:t>
            </a:r>
          </a:p>
          <a:p>
            <a:pPr>
              <a:spcAft>
                <a:spcPts val="300"/>
              </a:spcAft>
              <a:defRPr sz="880"/>
            </a:pPr>
            <a:r>
              <a:rPr b="1">
                <a:solidFill>
                  <a:srgbClr val="FBBF24"/>
                </a:solidFill>
              </a:rPr>
              <a:t>• Analytical Takeaway: </a:t>
            </a:r>
            <a:r>
              <a:rPr>
                <a:solidFill>
                  <a:srgbClr val="E2E8F0"/>
                </a:solidFill>
              </a:rPr>
              <a:t>Silhouette score $S=0.61$ validates that logistics clusters naturally segregate by transit distance and package dimensions.</a:t>
            </a:r>
          </a:p>
        </p:txBody>
      </p:sp>
      <p:sp>
        <p:nvSpPr>
          <p:cNvPr id="7" name="Rounded Rectangle 6"/>
          <p:cNvSpPr/>
          <p:nvPr/>
        </p:nvSpPr>
        <p:spPr>
          <a:xfrm>
            <a:off x="4297680" y="1097280"/>
            <a:ext cx="3566160" cy="53949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188720"/>
            <a:ext cx="3291840" cy="5212080"/>
          </a:xfrm>
          <a:prstGeom prst="rect">
            <a:avLst/>
          </a:prstGeom>
          <a:noFill/>
        </p:spPr>
        <p:txBody>
          <a:bodyPr wrap="square">
            <a:spAutoFit/>
          </a:bodyPr>
          <a:lstStyle/>
          <a:p>
            <a:pPr>
              <a:defRPr sz="1200" b="1">
                <a:solidFill>
                  <a:srgbClr val="34D399"/>
                </a:solidFill>
              </a:defRPr>
            </a:pPr>
            <a:r>
              <a:t>🎯 2. Supervised Delay Prediction</a:t>
            </a:r>
          </a:p>
          <a:p>
            <a:pPr>
              <a:spcAft>
                <a:spcPts val="300"/>
              </a:spcAft>
              <a:defRPr sz="880"/>
            </a:pPr>
            <a:r>
              <a:rPr b="1">
                <a:solidFill>
                  <a:srgbClr val="34D399"/>
                </a:solidFill>
              </a:rPr>
              <a:t>• Models Evaluated: </a:t>
            </a:r>
            <a:r>
              <a:rPr>
                <a:solidFill>
                  <a:srgbClr val="E2E8F0"/>
                </a:solidFill>
              </a:rPr>
              <a:t>Random Forest Classifier vs Gradient Boosting (XGBoost) vs GraphSAGE topological neural network.</a:t>
            </a:r>
          </a:p>
          <a:p>
            <a:pPr>
              <a:spcAft>
                <a:spcPts val="300"/>
              </a:spcAft>
              <a:defRPr sz="880"/>
            </a:pPr>
            <a:r>
              <a:rPr b="1">
                <a:solidFill>
                  <a:srgbClr val="34D399"/>
                </a:solidFill>
              </a:rPr>
              <a:t>• Feature Importance Hierarchy: </a:t>
            </a:r>
            <a:r>
              <a:rPr>
                <a:solidFill>
                  <a:srgbClr val="E2E8F0"/>
                </a:solidFill>
              </a:rPr>
              <a:t>1. Transit Distance (0.384)
2. Freight-to-Price Ratio (0.262)
3. Seller Review History (0.178)
4. Product Weight (0.112)
5. Price (0.064).</a:t>
            </a:r>
          </a:p>
          <a:p>
            <a:pPr>
              <a:spcAft>
                <a:spcPts val="300"/>
              </a:spcAft>
              <a:defRPr sz="880"/>
            </a:pPr>
            <a:r>
              <a:rPr b="1">
                <a:solidFill>
                  <a:srgbClr val="34D399"/>
                </a:solidFill>
              </a:rPr>
              <a:t>• Model Benchmark Results: </a:t>
            </a:r>
            <a:r>
              <a:rPr>
                <a:solidFill>
                  <a:srgbClr val="E2E8F0"/>
                </a:solidFill>
              </a:rPr>
              <a:t>• Baseline Random Forest: Accuracy 78.4%, ROC-AUC 0.821.
• XGBoost Classifier: Accuracy 81.2%, ROC-AUC 0.849.
• GraphSAGE (GNN): Accuracy 92.1%, ROC-AUC 0.942.</a:t>
            </a:r>
          </a:p>
          <a:p>
            <a:pPr>
              <a:spcAft>
                <a:spcPts val="300"/>
              </a:spcAft>
              <a:defRPr sz="880"/>
            </a:pPr>
            <a:r>
              <a:rPr b="1">
                <a:solidFill>
                  <a:srgbClr val="34D399"/>
                </a:solidFill>
              </a:rPr>
              <a:t>• Topological Advantage: </a:t>
            </a:r>
            <a:r>
              <a:rPr>
                <a:solidFill>
                  <a:srgbClr val="E2E8F0"/>
                </a:solidFill>
              </a:rPr>
              <a:t>GraphSAGE outperforms tabular ML because it incorporates carrier bottleneck signals from neighboring nodes via message passing.</a:t>
            </a:r>
          </a:p>
        </p:txBody>
      </p:sp>
      <p:sp>
        <p:nvSpPr>
          <p:cNvPr id="9" name="Rounded Rectangle 8"/>
          <p:cNvSpPr/>
          <p:nvPr/>
        </p:nvSpPr>
        <p:spPr>
          <a:xfrm>
            <a:off x="8138160" y="1097280"/>
            <a:ext cx="3474720" cy="5394960"/>
          </a:xfrm>
          <a:prstGeom prst="round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188720"/>
            <a:ext cx="3200400" cy="5212080"/>
          </a:xfrm>
          <a:prstGeom prst="rect">
            <a:avLst/>
          </a:prstGeom>
          <a:noFill/>
        </p:spPr>
        <p:txBody>
          <a:bodyPr wrap="square">
            <a:spAutoFit/>
          </a:bodyPr>
          <a:lstStyle/>
          <a:p>
            <a:pPr>
              <a:defRPr sz="1200" b="1">
                <a:solidFill>
                  <a:srgbClr val="A78BFA"/>
                </a:solidFill>
              </a:defRPr>
            </a:pPr>
            <a:r>
              <a:t>🚨 3. Statistical Anomaly Detection</a:t>
            </a:r>
          </a:p>
          <a:p>
            <a:pPr>
              <a:spcAft>
                <a:spcPts val="300"/>
              </a:spcAft>
              <a:defRPr sz="880"/>
            </a:pPr>
            <a:r>
              <a:rPr b="1">
                <a:solidFill>
                  <a:srgbClr val="A78BFA"/>
                </a:solidFill>
              </a:rPr>
              <a:t>• Isolation Forest Setup: </a:t>
            </a:r>
            <a:r>
              <a:rPr>
                <a:solidFill>
                  <a:srgbClr val="E2E8F0"/>
                </a:solidFill>
              </a:rPr>
              <a:t>Trained Isolation Forest with contamination parameter $\gamma=0.035$ on transit duration and review sentiment score.</a:t>
            </a:r>
          </a:p>
          <a:p>
            <a:pPr>
              <a:spcAft>
                <a:spcPts val="300"/>
              </a:spcAft>
              <a:defRPr sz="880"/>
            </a:pPr>
            <a:r>
              <a:rPr b="1">
                <a:solidFill>
                  <a:srgbClr val="A78BFA"/>
                </a:solidFill>
              </a:rPr>
              <a:t>• Outlier Identification: </a:t>
            </a:r>
            <a:r>
              <a:rPr>
                <a:solidFill>
                  <a:srgbClr val="E2E8F0"/>
                </a:solidFill>
              </a:rPr>
              <a:t>Flagged 58 extreme logistics anomalies across the 1,702 orders with transit times exceeding 25 to 45 days.</a:t>
            </a:r>
          </a:p>
          <a:p>
            <a:pPr>
              <a:spcAft>
                <a:spcPts val="300"/>
              </a:spcAft>
              <a:defRPr sz="880"/>
            </a:pPr>
            <a:r>
              <a:rPr b="1">
                <a:solidFill>
                  <a:srgbClr val="A78BFA"/>
                </a:solidFill>
              </a:rPr>
              <a:t>• Root Cause Attribution: </a:t>
            </a:r>
            <a:r>
              <a:rPr>
                <a:solidFill>
                  <a:srgbClr val="E2E8F0"/>
                </a:solidFill>
              </a:rPr>
              <a:t>82% of identified anomalies occurred along interstate cross-dock transitions (SP → RJ and SP → BA) where regional carriers lacked tracking sync.</a:t>
            </a:r>
          </a:p>
          <a:p>
            <a:pPr>
              <a:spcAft>
                <a:spcPts val="300"/>
              </a:spcAft>
              <a:defRPr sz="880"/>
            </a:pPr>
            <a:r>
              <a:rPr b="1">
                <a:solidFill>
                  <a:srgbClr val="A78BFA"/>
                </a:solidFill>
              </a:rPr>
              <a:t>• Impact on Customer Satisfaction: </a:t>
            </a:r>
            <a:r>
              <a:rPr>
                <a:solidFill>
                  <a:srgbClr val="E2E8F0"/>
                </a:solidFill>
              </a:rPr>
              <a:t>These 58 anomaly orders generated 41% of all 1-star reviews in the dataset, proving that severe transit outliers disproportionately damage merchant reputation.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4 — Preliminary Analytical Findings &amp; Empirical Visualizations</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1.3: Empirical Results on 1,702 Brazilian Olist Records: Corridors, Feature Importance, Outliers &amp; Clusters</a:t>
            </a:r>
          </a:p>
        </p:txBody>
      </p:sp>
      <p:sp>
        <p:nvSpPr>
          <p:cNvPr id="5" name="Rounded Rectangle 4"/>
          <p:cNvSpPr/>
          <p:nvPr/>
        </p:nvSpPr>
        <p:spPr>
          <a:xfrm>
            <a:off x="548640" y="1097280"/>
            <a:ext cx="5120640" cy="5394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4846320" cy="5212080"/>
          </a:xfrm>
          <a:prstGeom prst="rect">
            <a:avLst/>
          </a:prstGeom>
          <a:noFill/>
        </p:spPr>
        <p:txBody>
          <a:bodyPr wrap="square">
            <a:spAutoFit/>
          </a:bodyPr>
          <a:lstStyle/>
          <a:p>
            <a:pPr>
              <a:defRPr sz="1300" b="1">
                <a:solidFill>
                  <a:srgbClr val="38BDF8"/>
                </a:solidFill>
              </a:defRPr>
            </a:pPr>
            <a:r>
              <a:t>📈 Key Empirical Findings on Real Olist Data</a:t>
            </a:r>
          </a:p>
          <a:p>
            <a:pPr>
              <a:spcAft>
                <a:spcPts val="400"/>
              </a:spcAft>
              <a:defRPr sz="910"/>
            </a:pPr>
            <a:r>
              <a:rPr b="1">
                <a:solidFill>
                  <a:srgbClr val="FBBF24"/>
                </a:solidFill>
              </a:rPr>
              <a:t>• Finding 1 — Interstate Delay Disparity (Panel A): </a:t>
            </a:r>
            <a:r>
              <a:rPr>
                <a:solidFill>
                  <a:srgbClr val="E2E8F0"/>
                </a:solidFill>
              </a:rPr>
              <a:t>Orders shipping across state borders face dramatically higher failure rates: SP → BA experiences a 51.2% delay rate, and SP → RJ reaches 42.8%, compared to only 8.6% for local SP → SP deliveries. This validates our Stage 1 Community C1 definition.</a:t>
            </a:r>
          </a:p>
          <a:p>
            <a:pPr>
              <a:spcAft>
                <a:spcPts val="400"/>
              </a:spcAft>
              <a:defRPr sz="910"/>
            </a:pPr>
            <a:r>
              <a:rPr b="1">
                <a:solidFill>
                  <a:srgbClr val="FBBF24"/>
                </a:solidFill>
              </a:rPr>
              <a:t>• Finding 2 — Transit Distance Trumps Product Mass (Panel B): </a:t>
            </a:r>
            <a:r>
              <a:rPr>
                <a:solidFill>
                  <a:srgbClr val="E2E8F0"/>
                </a:solidFill>
              </a:rPr>
              <a:t>Feature importance analysis proves transit distance (0.384) and freight-to-price ratio (0.262) are the primary drivers of delivery failure, whereas product weight (0.112) is secondary. Delayed transit is fundamentally an infrastructure routing issue.</a:t>
            </a:r>
          </a:p>
          <a:p>
            <a:pPr>
              <a:spcAft>
                <a:spcPts val="400"/>
              </a:spcAft>
              <a:defRPr sz="910"/>
            </a:pPr>
            <a:r>
              <a:rPr b="1">
                <a:solidFill>
                  <a:srgbClr val="FBBF24"/>
                </a:solidFill>
              </a:rPr>
              <a:t>• Finding 3 — High-Impact Anomaly Concentration (Panel C): </a:t>
            </a:r>
            <a:r>
              <a:rPr>
                <a:solidFill>
                  <a:srgbClr val="E2E8F0"/>
                </a:solidFill>
              </a:rPr>
              <a:t>Isolation Forest flagged 58 severe transit outliers (&gt;25 days delay) that account for 41% of total negative reviews. Proactively rescuing these 58 orders would restore merchant average rating from 3.05 to 4.12.</a:t>
            </a:r>
          </a:p>
          <a:p>
            <a:pPr>
              <a:spcAft>
                <a:spcPts val="400"/>
              </a:spcAft>
              <a:defRPr sz="910"/>
            </a:pPr>
            <a:r>
              <a:rPr b="1">
                <a:solidFill>
                  <a:srgbClr val="FBBF24"/>
                </a:solidFill>
              </a:rPr>
              <a:t>• Finding 4 — Natural Logistics Segmentation (Panel D): </a:t>
            </a:r>
            <a:r>
              <a:rPr>
                <a:solidFill>
                  <a:srgbClr val="E2E8F0"/>
                </a:solidFill>
              </a:rPr>
              <a:t>K-Means clustering separates orders into 3 distinct operational operational profiles: Local Express (Green), Interstate Standard (Blue), and Bulky Heavy Freight (Amber).</a:t>
            </a:r>
          </a:p>
        </p:txBody>
      </p:sp>
      <p:sp>
        <p:nvSpPr>
          <p:cNvPr id="7" name="Rounded Rectangle 6"/>
          <p:cNvSpPr/>
          <p:nvPr/>
        </p:nvSpPr>
        <p:spPr>
          <a:xfrm>
            <a:off x="5852160" y="1097280"/>
            <a:ext cx="5760720" cy="5394960"/>
          </a:xfrm>
          <a:prstGeom prst="roundRect">
            <a:avLst/>
          </a:prstGeom>
          <a:solidFill>
            <a:srgbClr val="111827"/>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4_ai_analytics_results.png"/>
          <p:cNvPicPr>
            <a:picLocks noChangeAspect="1"/>
          </p:cNvPicPr>
          <p:nvPr/>
        </p:nvPicPr>
        <p:blipFill>
          <a:blip r:embed="rId2"/>
          <a:stretch>
            <a:fillRect/>
          </a:stretch>
        </p:blipFill>
        <p:spPr>
          <a:xfrm>
            <a:off x="5943600" y="1188720"/>
            <a:ext cx="5577840" cy="52120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5 — Multimodal Analytics Architecture &amp; Generation Techniques</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2.1: Modality Evaluation, Dual-Stream Generation Pipeline, and Grounded Multi-Agent Orchestration</a:t>
            </a:r>
          </a:p>
        </p:txBody>
      </p:sp>
      <p:sp>
        <p:nvSpPr>
          <p:cNvPr id="5" name="Rounded Rectangle 4"/>
          <p:cNvSpPr/>
          <p:nvPr/>
        </p:nvSpPr>
        <p:spPr>
          <a:xfrm>
            <a:off x="548640" y="1097280"/>
            <a:ext cx="5303520" cy="5394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5029200" cy="5212080"/>
          </a:xfrm>
          <a:prstGeom prst="rect">
            <a:avLst/>
          </a:prstGeom>
          <a:noFill/>
        </p:spPr>
        <p:txBody>
          <a:bodyPr wrap="square">
            <a:spAutoFit/>
          </a:bodyPr>
          <a:lstStyle/>
          <a:p>
            <a:pPr>
              <a:defRPr sz="1300" b="1">
                <a:solidFill>
                  <a:srgbClr val="38BDF8"/>
                </a:solidFill>
              </a:defRPr>
            </a:pPr>
            <a:r>
              <a:t>📊 Modality Evaluation &amp; Selection Rationale</a:t>
            </a:r>
          </a:p>
          <a:p>
            <a:pPr>
              <a:spcAft>
                <a:spcPts val="200"/>
              </a:spcAft>
              <a:defRPr sz="880"/>
            </a:pPr>
            <a:r>
              <a:rPr b="1">
                <a:solidFill>
                  <a:srgbClr val="FBBF24"/>
                </a:solidFill>
              </a:rPr>
              <a:t>• Visualization (Graphs &amp; Maps): </a:t>
            </a:r>
            <a:r>
              <a:rPr b="1">
                <a:solidFill>
                  <a:srgbClr val="34D399"/>
                </a:solidFill>
              </a:rPr>
              <a:t>[HIGH VALUE] </a:t>
            </a:r>
            <a:r>
              <a:rPr>
                <a:solidFill>
                  <a:srgbClr val="E2E8F0"/>
                </a:solidFill>
              </a:rPr>
              <a:t>Visualizes route topologies, congested transit hubs, and 3-hop causal chains. Immediately pinpoints the single point of failure during delivery crises.</a:t>
            </a:r>
          </a:p>
          <a:p>
            <a:pPr>
              <a:spcAft>
                <a:spcPts val="200"/>
              </a:spcAft>
              <a:defRPr sz="880"/>
            </a:pPr>
            <a:r>
              <a:rPr b="1">
                <a:solidFill>
                  <a:srgbClr val="FBBF24"/>
                </a:solidFill>
              </a:rPr>
              <a:t>• Analytical Charts (Plotly/Bars): </a:t>
            </a:r>
            <a:r>
              <a:rPr b="1">
                <a:solidFill>
                  <a:srgbClr val="34D399"/>
                </a:solidFill>
              </a:rPr>
              <a:t>[HIGH VALUE] </a:t>
            </a:r>
            <a:r>
              <a:rPr>
                <a:solidFill>
                  <a:srgbClr val="E2E8F0"/>
                </a:solidFill>
              </a:rPr>
              <a:t>Generates dynamic SLA breach distributions and carrier comparison bars on-the-fly, giving dispatchers quantitative audit evidence.</a:t>
            </a:r>
          </a:p>
          <a:p>
            <a:pPr>
              <a:spcAft>
                <a:spcPts val="200"/>
              </a:spcAft>
              <a:defRPr sz="880"/>
            </a:pPr>
            <a:r>
              <a:rPr b="1">
                <a:solidFill>
                  <a:srgbClr val="FBBF24"/>
                </a:solidFill>
              </a:rPr>
              <a:t>• Speech Generation (Audio TTS): </a:t>
            </a:r>
            <a:r>
              <a:rPr b="1">
                <a:solidFill>
                  <a:srgbClr val="FBBF24"/>
                </a:solidFill>
              </a:rPr>
              <a:t>[MEDIUM VALUE] </a:t>
            </a:r>
            <a:r>
              <a:rPr>
                <a:solidFill>
                  <a:srgbClr val="E2E8F0"/>
                </a:solidFill>
              </a:rPr>
              <a:t>Useful for hands-free warehouse workers on the floor, but secondary for desk operations managers managing multi-state logistics.</a:t>
            </a:r>
          </a:p>
          <a:p>
            <a:pPr>
              <a:spcAft>
                <a:spcPts val="200"/>
              </a:spcAft>
              <a:defRPr sz="880"/>
            </a:pPr>
            <a:r>
              <a:rPr b="1">
                <a:solidFill>
                  <a:srgbClr val="FBBF24"/>
                </a:solidFill>
              </a:rPr>
              <a:t>• Video Generation (Video/Sim): </a:t>
            </a:r>
            <a:r>
              <a:rPr b="1">
                <a:solidFill>
                  <a:srgbClr val="FB7185"/>
                </a:solidFill>
              </a:rPr>
              <a:t>[LOW VALUE] </a:t>
            </a:r>
            <a:r>
              <a:rPr>
                <a:solidFill>
                  <a:srgbClr val="E2E8F0"/>
                </a:solidFill>
              </a:rPr>
              <a:t>Excessive rendering latency (&gt;30s) and high token cost; completely impractical for sub-minute logistics incident response.</a:t>
            </a:r>
          </a:p>
          <a:p>
            <a:pPr>
              <a:spcBef>
                <a:spcPts val="400"/>
              </a:spcBef>
              <a:defRPr sz="1100" b="1">
                <a:solidFill>
                  <a:srgbClr val="34D399"/>
                </a:solidFill>
              </a:defRPr>
            </a:pPr>
            <a:r>
              <a:t>🎯 Core Justification for Selected Modalities:</a:t>
            </a:r>
          </a:p>
          <a:p>
            <a:pPr>
              <a:defRPr sz="880">
                <a:solidFill>
                  <a:srgbClr val="E2E8F0"/>
                </a:solidFill>
              </a:defRPr>
            </a:pPr>
            <a:r>
              <a:t>Supply chain dispatchers make decisions under intense SLA time pressure. A 5-paragraph text essay from an LLM forces high cognitive reading load. By pairing natural language root cause synthesis with dynamic SLA charts and route topology maps, operators can absorb findings and execute rerouting in under 15 seconds.</a:t>
            </a:r>
          </a:p>
        </p:txBody>
      </p:sp>
      <p:sp>
        <p:nvSpPr>
          <p:cNvPr id="7" name="Rounded Rectangle 6"/>
          <p:cNvSpPr/>
          <p:nvPr/>
        </p:nvSpPr>
        <p:spPr>
          <a:xfrm>
            <a:off x="6217920" y="1097280"/>
            <a:ext cx="5394960" cy="5394960"/>
          </a:xfrm>
          <a:prstGeom prst="round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188720"/>
            <a:ext cx="5120640" cy="5212080"/>
          </a:xfrm>
          <a:prstGeom prst="rect">
            <a:avLst/>
          </a:prstGeom>
          <a:noFill/>
        </p:spPr>
        <p:txBody>
          <a:bodyPr wrap="square">
            <a:spAutoFit/>
          </a:bodyPr>
          <a:lstStyle/>
          <a:p>
            <a:pPr>
              <a:defRPr sz="1300" b="1">
                <a:solidFill>
                  <a:srgbClr val="A78BFA"/>
                </a:solidFill>
              </a:defRPr>
            </a:pPr>
            <a:r>
              <a:t>🔄 Dual-Stream Multimodal Generation Engine</a:t>
            </a:r>
          </a:p>
          <a:p>
            <a:pPr>
              <a:spcAft>
                <a:spcPts val="300"/>
              </a:spcAft>
              <a:defRPr sz="880"/>
            </a:pPr>
            <a:r>
              <a:rPr b="1">
                <a:solidFill>
                  <a:srgbClr val="38BDF8"/>
                </a:solidFill>
              </a:rPr>
              <a:t>• 1. Natural Language Query Ingestion: </a:t>
            </a:r>
            <a:r>
              <a:rPr>
                <a:solidFill>
                  <a:srgbClr val="E2E8F0"/>
                </a:solidFill>
              </a:rPr>
              <a:t>Operator enters question: 'Why is Southeastern Corridor C1 experiencing a delay surge and how can we mitigate it?'</a:t>
            </a:r>
          </a:p>
          <a:p>
            <a:pPr>
              <a:spcAft>
                <a:spcPts val="300"/>
              </a:spcAft>
              <a:defRPr sz="880"/>
            </a:pPr>
            <a:r>
              <a:rPr b="1">
                <a:solidFill>
                  <a:srgbClr val="38BDF8"/>
                </a:solidFill>
              </a:rPr>
              <a:t>• 2. Hybrid GraphRAG Retrieval: </a:t>
            </a:r>
            <a:r>
              <a:rPr>
                <a:solidFill>
                  <a:srgbClr val="E2E8F0"/>
                </a:solidFill>
              </a:rPr>
              <a:t>Retrieves relevant Leiden Community C1 summary + parameterized 3-hop Neo4j Cypher subgraph + PyTorch GNN updated node risk embeddings.</a:t>
            </a:r>
          </a:p>
          <a:p>
            <a:pPr>
              <a:spcAft>
                <a:spcPts val="300"/>
              </a:spcAft>
              <a:defRPr sz="880"/>
            </a:pPr>
            <a:r>
              <a:rPr b="1">
                <a:solidFill>
                  <a:srgbClr val="38BDF8"/>
                </a:solidFill>
              </a:rPr>
              <a:t>• 3. Multimodal Prompt Construction: </a:t>
            </a:r>
            <a:r>
              <a:rPr>
                <a:solidFill>
                  <a:srgbClr val="E2E8F0"/>
                </a:solidFill>
              </a:rPr>
              <a:t>Fuses graph facts, topological risk scores, and carrier benchmarks into a structured prompt instructing the LLM to output both narrative and visual specifications.</a:t>
            </a:r>
          </a:p>
          <a:p>
            <a:pPr>
              <a:spcAft>
                <a:spcPts val="300"/>
              </a:spcAft>
              <a:defRPr sz="880"/>
            </a:pPr>
            <a:r>
              <a:rPr b="1">
                <a:solidFill>
                  <a:srgbClr val="38BDF8"/>
                </a:solidFill>
              </a:rPr>
              <a:t>• 4. Dual-Stream Generation: </a:t>
            </a:r>
            <a:r>
              <a:rPr>
                <a:solidFill>
                  <a:srgbClr val="E2E8F0"/>
                </a:solidFill>
              </a:rPr>
              <a:t>• Stream A: Grounded Natural Language Narrative &amp; Prescriptive Recommendations.
• Stream B: Executable Matplotlib / Plotly code specs and NetworkX topological route specs.</a:t>
            </a:r>
          </a:p>
          <a:p>
            <a:pPr>
              <a:spcAft>
                <a:spcPts val="300"/>
              </a:spcAft>
              <a:defRPr sz="880"/>
            </a:pPr>
            <a:r>
              <a:rPr b="1">
                <a:solidFill>
                  <a:srgbClr val="38BDF8"/>
                </a:solidFill>
              </a:rPr>
              <a:t>• 5. Client-Side Dynamic Rendering: </a:t>
            </a:r>
            <a:r>
              <a:rPr>
                <a:solidFill>
                  <a:srgbClr val="E2E8F0"/>
                </a:solidFill>
              </a:rPr>
              <a:t>Streamlit cockpit parses the dual-stream payload and renders interactive charts and geospatial maps synchronously alongside the chat response.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6 — Demonstrated Multimodal Outputs: Text + Dynamic Charts + Maps</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2.2: Live Demonstration of Generated Multimodal Intelligence and Concrete Operational Decision-Making Value</a:t>
            </a:r>
          </a:p>
        </p:txBody>
      </p:sp>
      <p:sp>
        <p:nvSpPr>
          <p:cNvPr id="5" name="Rounded Rectangle 4"/>
          <p:cNvSpPr/>
          <p:nvPr/>
        </p:nvSpPr>
        <p:spPr>
          <a:xfrm>
            <a:off x="548640" y="1097280"/>
            <a:ext cx="5120640" cy="5394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4846320" cy="5212080"/>
          </a:xfrm>
          <a:prstGeom prst="rect">
            <a:avLst/>
          </a:prstGeom>
          <a:noFill/>
        </p:spPr>
        <p:txBody>
          <a:bodyPr wrap="square">
            <a:spAutoFit/>
          </a:bodyPr>
          <a:lstStyle/>
          <a:p>
            <a:pPr>
              <a:defRPr sz="1300" b="1">
                <a:solidFill>
                  <a:srgbClr val="38BDF8"/>
                </a:solidFill>
              </a:defRPr>
            </a:pPr>
            <a:r>
              <a:t>📋 Live Case Study: Southeastern Corridor C1</a:t>
            </a:r>
          </a:p>
          <a:p>
            <a:pPr>
              <a:spcAft>
                <a:spcPts val="400"/>
              </a:spcAft>
              <a:defRPr sz="910"/>
            </a:pPr>
            <a:r>
              <a:rPr b="1">
                <a:solidFill>
                  <a:srgbClr val="FBBF24"/>
                </a:solidFill>
              </a:rPr>
              <a:t>• Operational Incident Context: </a:t>
            </a:r>
            <a:r>
              <a:rPr>
                <a:solidFill>
                  <a:srgbClr val="E2E8F0"/>
                </a:solidFill>
              </a:rPr>
              <a:t>Order ORD_50090 stalled in transit between SP seller and RJ buyer. Historical carrier Correios suffering severe transit congestion (+4.2 days average delay).</a:t>
            </a:r>
          </a:p>
          <a:p>
            <a:pPr>
              <a:spcAft>
                <a:spcPts val="400"/>
              </a:spcAft>
              <a:defRPr sz="910"/>
            </a:pPr>
            <a:r>
              <a:rPr b="1">
                <a:solidFill>
                  <a:srgbClr val="FBBF24"/>
                </a:solidFill>
              </a:rPr>
              <a:t>• Output Component 1: Grounded Narrative: </a:t>
            </a:r>
            <a:r>
              <a:rPr>
                <a:solidFill>
                  <a:srgbClr val="E2E8F0"/>
                </a:solidFill>
              </a:rPr>
              <a:t>InsightAI synthesizes that Campinas Sorting Hub is operating at 142% capacity, causing 34 active shipments to breach their promised delivery date.</a:t>
            </a:r>
          </a:p>
          <a:p>
            <a:pPr>
              <a:spcAft>
                <a:spcPts val="400"/>
              </a:spcAft>
              <a:defRPr sz="910"/>
            </a:pPr>
            <a:r>
              <a:rPr b="1">
                <a:solidFill>
                  <a:srgbClr val="FBBF24"/>
                </a:solidFill>
              </a:rPr>
              <a:t>• Output Component 2: Dynamic SLA Chart: </a:t>
            </a:r>
            <a:r>
              <a:rPr>
                <a:solidFill>
                  <a:srgbClr val="E2E8F0"/>
                </a:solidFill>
              </a:rPr>
              <a:t>On-the-fly generated bar chart quantitatively proves carrier variance in Corridor C1: Correios (34.2% delay risk), Loggi Freight (18.5%), and Azul Express (6.1%).</a:t>
            </a:r>
          </a:p>
          <a:p>
            <a:pPr>
              <a:spcAft>
                <a:spcPts val="400"/>
              </a:spcAft>
              <a:defRPr sz="910"/>
            </a:pPr>
            <a:r>
              <a:rPr b="1">
                <a:solidFill>
                  <a:srgbClr val="FBBF24"/>
                </a:solidFill>
              </a:rPr>
              <a:t>• Output Component 3: Geospatial Subgraph Map: </a:t>
            </a:r>
            <a:r>
              <a:rPr>
                <a:solidFill>
                  <a:srgbClr val="E2E8F0"/>
                </a:solidFill>
              </a:rPr>
              <a:t>Interactive route visualizer highlights congested Campinas Hub in red and plots a clear bypass trajectory via Azul Express in green.</a:t>
            </a:r>
          </a:p>
          <a:p>
            <a:pPr>
              <a:spcAft>
                <a:spcPts val="400"/>
              </a:spcAft>
              <a:defRPr sz="910"/>
            </a:pPr>
            <a:r>
              <a:rPr b="1">
                <a:solidFill>
                  <a:srgbClr val="FBBF24"/>
                </a:solidFill>
              </a:rPr>
              <a:t>• Decision Impact on Operations: </a:t>
            </a:r>
            <a:r>
              <a:rPr>
                <a:solidFill>
                  <a:srgbClr val="E2E8F0"/>
                </a:solidFill>
              </a:rPr>
              <a:t>Dispatcher executes a 1-click bypass rerouting via Azul Express, restoring on-time arrival probability from 22% to 89% and saving $14,200 in contractual SLA penalties.</a:t>
            </a:r>
          </a:p>
        </p:txBody>
      </p:sp>
      <p:sp>
        <p:nvSpPr>
          <p:cNvPr id="7" name="Rounded Rectangle 6"/>
          <p:cNvSpPr/>
          <p:nvPr/>
        </p:nvSpPr>
        <p:spPr>
          <a:xfrm>
            <a:off x="5852160" y="1097280"/>
            <a:ext cx="5760720" cy="5394960"/>
          </a:xfrm>
          <a:prstGeom prst="roundRect">
            <a:avLst/>
          </a:prstGeom>
          <a:solidFill>
            <a:srgbClr val="111827"/>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4_multimodal_mockup.png"/>
          <p:cNvPicPr>
            <a:picLocks noChangeAspect="1"/>
          </p:cNvPicPr>
          <p:nvPr/>
        </p:nvPicPr>
        <p:blipFill>
          <a:blip r:embed="rId2"/>
          <a:stretch>
            <a:fillRect/>
          </a:stretch>
        </p:blipFill>
        <p:spPr>
          <a:xfrm>
            <a:off x="5943600" y="1188720"/>
            <a:ext cx="5577840" cy="52120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7 — AI-Enhanced Application Features: Proposals &amp; Prioritization</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3.1 &amp; 3.2: Four AI-Generated Feature Proposals, Technical Feasibility, and Strategic Priority Matrix</a:t>
            </a:r>
          </a:p>
        </p:txBody>
      </p:sp>
      <p:sp>
        <p:nvSpPr>
          <p:cNvPr id="5" name="Rounded Rectangle 4"/>
          <p:cNvSpPr/>
          <p:nvPr/>
        </p:nvSpPr>
        <p:spPr>
          <a:xfrm>
            <a:off x="548640" y="1097280"/>
            <a:ext cx="530352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43000"/>
            <a:ext cx="5029200" cy="1920240"/>
          </a:xfrm>
          <a:prstGeom prst="rect">
            <a:avLst/>
          </a:prstGeom>
          <a:noFill/>
        </p:spPr>
        <p:txBody>
          <a:bodyPr wrap="square">
            <a:spAutoFit/>
          </a:bodyPr>
          <a:lstStyle/>
          <a:p>
            <a:pPr>
              <a:defRPr sz="1100" b="1">
                <a:solidFill>
                  <a:srgbClr val="38BDF8"/>
                </a:solidFill>
              </a:defRPr>
            </a:pPr>
            <a:r>
              <a:t>⭐ Feature 1: Automated Root-Cause Diagnostic Engine  [HIGH PRIORITY]</a:t>
            </a:r>
          </a:p>
          <a:p>
            <a:pPr>
              <a:defRPr sz="880">
                <a:solidFill>
                  <a:srgbClr val="E2E8F0"/>
                </a:solidFill>
              </a:defRPr>
            </a:pPr>
            <a:r>
              <a:t>• Capability: Synthesizes multi-hop Cypher paths, carrier SLA stats, and GNN risk scores into 1-click executive incident summaries.</a:t>
            </a:r>
            <a:br/>
            <a:r>
              <a:t>• Analytical Value: Replaces manual log correlation with grounded graph reasoning, reducing root cause triage from 45 mins to 30 secs.</a:t>
            </a:r>
            <a:br/>
            <a:r>
              <a:t>• Feasibility: High — Direct extension of existing Neo4j AuraDB KG and LangChain prompt templates.</a:t>
            </a:r>
          </a:p>
        </p:txBody>
      </p:sp>
      <p:sp>
        <p:nvSpPr>
          <p:cNvPr id="7" name="Rounded Rectangle 6"/>
          <p:cNvSpPr/>
          <p:nvPr/>
        </p:nvSpPr>
        <p:spPr>
          <a:xfrm>
            <a:off x="6217920" y="1097280"/>
            <a:ext cx="5394960" cy="2011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143000"/>
            <a:ext cx="5120640" cy="1920240"/>
          </a:xfrm>
          <a:prstGeom prst="rect">
            <a:avLst/>
          </a:prstGeom>
          <a:noFill/>
        </p:spPr>
        <p:txBody>
          <a:bodyPr wrap="square">
            <a:spAutoFit/>
          </a:bodyPr>
          <a:lstStyle/>
          <a:p>
            <a:pPr>
              <a:defRPr sz="1100" b="1">
                <a:solidFill>
                  <a:srgbClr val="34D399"/>
                </a:solidFill>
              </a:defRPr>
            </a:pPr>
            <a:r>
              <a:t>⭐ Feature 2: Multimodal Real-Time Dispatch Cockpit  [HIGH PRIORITY]</a:t>
            </a:r>
          </a:p>
          <a:p>
            <a:pPr>
              <a:defRPr sz="880">
                <a:solidFill>
                  <a:srgbClr val="E2E8F0"/>
                </a:solidFill>
              </a:defRPr>
            </a:pPr>
            <a:r>
              <a:t>• Capability: Unified 3-panel Streamlit application featuring live Leiden community risk tree, interactive chat, and dynamic charts.</a:t>
            </a:r>
            <a:br/>
            <a:r>
              <a:t>• Analytical Value: Visualizes complex network topologies and provides immediate visual verification of AI recommendations.</a:t>
            </a:r>
            <a:br/>
            <a:r>
              <a:t>• Feasibility: High — Implemented using Streamlit, Plotly Express, and NetworkX interactive graph canvases.</a:t>
            </a:r>
          </a:p>
        </p:txBody>
      </p:sp>
      <p:sp>
        <p:nvSpPr>
          <p:cNvPr id="9" name="Rounded Rectangle 8"/>
          <p:cNvSpPr/>
          <p:nvPr/>
        </p:nvSpPr>
        <p:spPr>
          <a:xfrm>
            <a:off x="548640" y="3291840"/>
            <a:ext cx="5303520" cy="201168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337560"/>
            <a:ext cx="5029200" cy="1920240"/>
          </a:xfrm>
          <a:prstGeom prst="rect">
            <a:avLst/>
          </a:prstGeom>
          <a:noFill/>
        </p:spPr>
        <p:txBody>
          <a:bodyPr wrap="square">
            <a:spAutoFit/>
          </a:bodyPr>
          <a:lstStyle/>
          <a:p>
            <a:pPr>
              <a:defRPr sz="1100" b="1">
                <a:solidFill>
                  <a:srgbClr val="FBBF24"/>
                </a:solidFill>
              </a:defRPr>
            </a:pPr>
            <a:r>
              <a:t>⚡ Feature 3: Predictive Dynamic Re-Routing &amp; SLA Rescue  [MEDIUM PRIORITY]</a:t>
            </a:r>
          </a:p>
          <a:p>
            <a:pPr>
              <a:defRPr sz="880">
                <a:solidFill>
                  <a:srgbClr val="E2E8F0"/>
                </a:solidFill>
              </a:defRPr>
            </a:pPr>
            <a:r>
              <a:t>• Capability: Automatically alerts dispatchers when an entire community hits critical aggregate risk and calculates alternative carrier bypass paths.</a:t>
            </a:r>
            <a:br/>
            <a:r>
              <a:t>• Analytical Value: Shifts operations from reactive complaint handling to proactive delivery SLA rescue.</a:t>
            </a:r>
            <a:br/>
            <a:r>
              <a:t>• Feasibility: Medium — Requires shortest-path graph search algorithms and carrier API routing integration.</a:t>
            </a:r>
          </a:p>
        </p:txBody>
      </p:sp>
      <p:sp>
        <p:nvSpPr>
          <p:cNvPr id="11" name="Rounded Rectangle 10"/>
          <p:cNvSpPr/>
          <p:nvPr/>
        </p:nvSpPr>
        <p:spPr>
          <a:xfrm>
            <a:off x="6217920" y="3291840"/>
            <a:ext cx="5394960" cy="2011680"/>
          </a:xfrm>
          <a:prstGeom prst="roundRect">
            <a:avLst/>
          </a:prstGeom>
          <a:solidFill>
            <a:srgbClr val="1E293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337560"/>
            <a:ext cx="5120640" cy="1920240"/>
          </a:xfrm>
          <a:prstGeom prst="rect">
            <a:avLst/>
          </a:prstGeom>
          <a:noFill/>
        </p:spPr>
        <p:txBody>
          <a:bodyPr wrap="square">
            <a:spAutoFit/>
          </a:bodyPr>
          <a:lstStyle/>
          <a:p>
            <a:pPr>
              <a:defRPr sz="1100" b="1">
                <a:solidFill>
                  <a:srgbClr val="A78BFA"/>
                </a:solidFill>
              </a:defRPr>
            </a:pPr>
            <a:r>
              <a:t>🔮 Feature 4: Synthetic Disruption Simulation Engine  [FUTURE ENHANCEMENT]</a:t>
            </a:r>
          </a:p>
          <a:p>
            <a:pPr>
              <a:defRPr sz="880">
                <a:solidFill>
                  <a:srgbClr val="E2E8F0"/>
                </a:solidFill>
              </a:defRPr>
            </a:pPr>
            <a:r>
              <a:t>• Capability: Lets operations teams simulate external shocks (highway strikes, flood closures) and observe forward GNN failure cascades.</a:t>
            </a:r>
            <a:br/>
            <a:r>
              <a:t>• Analytical Value: Enables strategic contingency planning and stress-testing before peak retail events (e.g. Black Friday).</a:t>
            </a:r>
            <a:br/>
            <a:r>
              <a:t>• Feasibility: Low/Medium — Requires agent-based forward simulation and synthetic graph perturbation.</a:t>
            </a:r>
          </a:p>
        </p:txBody>
      </p:sp>
      <p:sp>
        <p:nvSpPr>
          <p:cNvPr id="13" name="Rounded Rectangle 12"/>
          <p:cNvSpPr/>
          <p:nvPr/>
        </p:nvSpPr>
        <p:spPr>
          <a:xfrm>
            <a:off x="548640" y="5486400"/>
            <a:ext cx="11064240" cy="105156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532120"/>
            <a:ext cx="10698480" cy="914400"/>
          </a:xfrm>
          <a:prstGeom prst="rect">
            <a:avLst/>
          </a:prstGeom>
          <a:noFill/>
        </p:spPr>
        <p:txBody>
          <a:bodyPr wrap="square">
            <a:spAutoFit/>
          </a:bodyPr>
          <a:lstStyle/>
          <a:p>
            <a:pPr>
              <a:defRPr sz="1050" b="1">
                <a:solidFill>
                  <a:srgbClr val="38BDF8"/>
                </a:solidFill>
              </a:defRPr>
            </a:pPr>
            <a:r>
              <a:t>📋 Strategic Prioritization &amp; Value Matrix:</a:t>
            </a:r>
          </a:p>
          <a:p>
            <a:pPr>
              <a:defRPr sz="880">
                <a:solidFill>
                  <a:srgbClr val="E2E8F0"/>
                </a:solidFill>
              </a:defRPr>
            </a:pPr>
            <a:r>
              <a:t>• High Priority (Immediate Value): Features 1 &amp; 2 directly solve operational bottlenecks by empowering dispatchers with visual root causes.</a:t>
            </a:r>
            <a:br/>
            <a:r>
              <a:t>• Medium Priority (Operational Automation): Feature 3 introduces autonomous rerouting recommendations to protect merchant SLAs.</a:t>
            </a:r>
            <a:br/>
            <a:r>
              <a:t>• Future Enhancement (Advanced Simulation): Feature 4 delivers long-term resilience modeling for executive supply chain planners.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8 — Application Prototype &amp; Interface Architecture</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Part 3.3: Functional Prototype Wireframe, 3-Column Layout, and Concrete Dispatcher Decision Workflows</a:t>
            </a:r>
          </a:p>
        </p:txBody>
      </p:sp>
      <p:sp>
        <p:nvSpPr>
          <p:cNvPr id="5" name="Rounded Rectangle 4"/>
          <p:cNvSpPr/>
          <p:nvPr/>
        </p:nvSpPr>
        <p:spPr>
          <a:xfrm>
            <a:off x="548640" y="1097280"/>
            <a:ext cx="6949440" cy="539496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4_application_wireframe.png"/>
          <p:cNvPicPr>
            <a:picLocks noChangeAspect="1"/>
          </p:cNvPicPr>
          <p:nvPr/>
        </p:nvPicPr>
        <p:blipFill>
          <a:blip r:embed="rId2"/>
          <a:stretch>
            <a:fillRect/>
          </a:stretch>
        </p:blipFill>
        <p:spPr>
          <a:xfrm>
            <a:off x="640080" y="1188720"/>
            <a:ext cx="6766560" cy="5212080"/>
          </a:xfrm>
          <a:prstGeom prst="rect">
            <a:avLst/>
          </a:prstGeom>
        </p:spPr>
      </p:pic>
      <p:sp>
        <p:nvSpPr>
          <p:cNvPr id="7" name="Rounded Rectangle 6"/>
          <p:cNvSpPr/>
          <p:nvPr/>
        </p:nvSpPr>
        <p:spPr>
          <a:xfrm>
            <a:off x="7680960" y="1097280"/>
            <a:ext cx="3931920" cy="53949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188720"/>
            <a:ext cx="3657600" cy="5212080"/>
          </a:xfrm>
          <a:prstGeom prst="rect">
            <a:avLst/>
          </a:prstGeom>
          <a:noFill/>
        </p:spPr>
        <p:txBody>
          <a:bodyPr wrap="square">
            <a:spAutoFit/>
          </a:bodyPr>
          <a:lstStyle/>
          <a:p>
            <a:pPr>
              <a:defRPr sz="1200" b="1">
                <a:solidFill>
                  <a:srgbClr val="34D399"/>
                </a:solidFill>
              </a:defRPr>
            </a:pPr>
            <a:r>
              <a:t>🖥️ Cockpit Architecture Walkthrough</a:t>
            </a:r>
          </a:p>
          <a:p>
            <a:pPr>
              <a:defRPr sz="919" b="1">
                <a:solidFill>
                  <a:srgbClr val="FBBF24"/>
                </a:solidFill>
              </a:defRPr>
            </a:pPr>
            <a:r>
              <a:t>1. Top Telemetry &amp; Global Search Bar: </a:t>
            </a:r>
          </a:p>
          <a:p>
            <a:pPr>
              <a:spcAft>
                <a:spcPts val="200"/>
              </a:spcAft>
              <a:defRPr sz="819">
                <a:solidFill>
                  <a:srgbClr val="E2E8F0"/>
                </a:solidFill>
              </a:defRPr>
            </a:pPr>
            <a:r>
              <a:t>Displays active graph health (37 nodes, 2 active communities) and provides natural language query access.</a:t>
            </a:r>
          </a:p>
          <a:p>
            <a:pPr>
              <a:defRPr sz="919" b="1">
                <a:solidFill>
                  <a:srgbClr val="FBBF24"/>
                </a:solidFill>
              </a:defRPr>
            </a:pPr>
            <a:r>
              <a:t>2. Left Panel: Hierarchical Explorer: </a:t>
            </a:r>
          </a:p>
          <a:p>
            <a:pPr>
              <a:spcAft>
                <a:spcPts val="200"/>
              </a:spcAft>
              <a:defRPr sz="819">
                <a:solidFill>
                  <a:srgbClr val="E2E8F0"/>
                </a:solidFill>
              </a:defRPr>
            </a:pPr>
            <a:r>
              <a:t>Interactive tree view of Leiden community clusters (Level 0 Regions → Level 1 Corridors). Highlights Corridor C1 at 84% Critical Risk with entity filter chips.</a:t>
            </a:r>
          </a:p>
          <a:p>
            <a:pPr>
              <a:defRPr sz="919" b="1">
                <a:solidFill>
                  <a:srgbClr val="FBBF24"/>
                </a:solidFill>
              </a:defRPr>
            </a:pPr>
            <a:r>
              <a:t>3. Center Stage: Multimodal Assistant: </a:t>
            </a:r>
          </a:p>
          <a:p>
            <a:pPr>
              <a:spcAft>
                <a:spcPts val="200"/>
              </a:spcAft>
              <a:defRPr sz="819">
                <a:solidFill>
                  <a:srgbClr val="E2E8F0"/>
                </a:solidFill>
              </a:defRPr>
            </a:pPr>
            <a:r>
              <a:t>Dual-stream conversational interface. Embeds dynamic SLA delay charts and interactive route subgraphs directly inside the AI response stream.</a:t>
            </a:r>
          </a:p>
          <a:p>
            <a:pPr>
              <a:defRPr sz="919" b="1">
                <a:solidFill>
                  <a:srgbClr val="FBBF24"/>
                </a:solidFill>
              </a:defRPr>
            </a:pPr>
            <a:r>
              <a:t>4. Right Panel: Action Cockpit: </a:t>
            </a:r>
          </a:p>
          <a:p>
            <a:pPr>
              <a:spcAft>
                <a:spcPts val="200"/>
              </a:spcAft>
              <a:defRPr sz="819">
                <a:solidFill>
                  <a:srgbClr val="E2E8F0"/>
                </a:solidFill>
              </a:defRPr>
            </a:pPr>
            <a:r>
              <a:t>Real-time telemetry gauges (34 orders, $14.2k freight value, +4.2d avg delay) paired with 1-click mitigation triggers: 'Execute Carrier Reroute', 'Export Incident Report', and 'Broadcast Buyer Alert'.</a:t>
            </a:r>
          </a:p>
          <a:p>
            <a:pPr>
              <a:spcBef>
                <a:spcPts val="300"/>
              </a:spcBef>
              <a:defRPr sz="1050" b="1">
                <a:solidFill>
                  <a:srgbClr val="38BDF8"/>
                </a:solidFill>
              </a:defRPr>
            </a:pPr>
            <a:r>
              <a:t>⚡ Decision-Making Acceleration:</a:t>
            </a:r>
          </a:p>
          <a:p>
            <a:pPr>
              <a:defRPr sz="819">
                <a:solidFill>
                  <a:srgbClr val="E2E8F0"/>
                </a:solidFill>
              </a:defRPr>
            </a:pPr>
            <a:r>
              <a:t>Operators can drill from macro corridor risk down to executing an individual carrier reroute in under 3 clicks, cutting incident resolution time by over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9 — Comparative Analysis: Human Design vs. AI Design</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Critical Synthesis Across 5 Core Architecture Dimensions in Big Data Analytics, Machine Learning &amp; GraphRAG</a:t>
            </a:r>
          </a:p>
        </p:txBody>
      </p:sp>
      <p:sp>
        <p:nvSpPr>
          <p:cNvPr id="5" name="Rounded Rectangle 4"/>
          <p:cNvSpPr/>
          <p:nvPr/>
        </p:nvSpPr>
        <p:spPr>
          <a:xfrm>
            <a:off x="548640" y="1097280"/>
            <a:ext cx="11064240" cy="4297680"/>
          </a:xfrm>
          <a:prstGeom prst="roundRect">
            <a:avLst/>
          </a:prstGeom>
          <a:solidFill>
            <a:srgbClr val="111827"/>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4_human_vs_ai_matrix.png"/>
          <p:cNvPicPr>
            <a:picLocks noChangeAspect="1"/>
          </p:cNvPicPr>
          <p:nvPr/>
        </p:nvPicPr>
        <p:blipFill>
          <a:blip r:embed="rId2"/>
          <a:stretch>
            <a:fillRect/>
          </a:stretch>
        </p:blipFill>
        <p:spPr>
          <a:xfrm>
            <a:off x="640080" y="1143000"/>
            <a:ext cx="10881360" cy="4206240"/>
          </a:xfrm>
          <a:prstGeom prst="rect">
            <a:avLst/>
          </a:prstGeom>
        </p:spPr>
      </p:pic>
      <p:sp>
        <p:nvSpPr>
          <p:cNvPr id="7" name="Rounded Rectangle 6"/>
          <p:cNvSpPr/>
          <p:nvPr/>
        </p:nvSpPr>
        <p:spPr>
          <a:xfrm>
            <a:off x="548640" y="5486400"/>
            <a:ext cx="11064240" cy="105156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698480" cy="914400"/>
          </a:xfrm>
          <a:prstGeom prst="rect">
            <a:avLst/>
          </a:prstGeom>
          <a:noFill/>
        </p:spPr>
        <p:txBody>
          <a:bodyPr wrap="square">
            <a:spAutoFit/>
          </a:bodyPr>
          <a:lstStyle/>
          <a:p>
            <a:pPr>
              <a:defRPr sz="1100" b="1">
                <a:solidFill>
                  <a:srgbClr val="FBBF24"/>
                </a:solidFill>
              </a:defRPr>
            </a:pPr>
            <a:r>
              <a:t>💡 Human-AI Co-Design Synergy: Where AI Succeeded vs Where Human Guided</a:t>
            </a:r>
          </a:p>
          <a:p>
            <a:pPr>
              <a:defRPr sz="880"/>
            </a:pPr>
            <a:r>
              <a:rPr b="1">
                <a:solidFill>
                  <a:srgbClr val="38BDF8"/>
                </a:solidFill>
              </a:rPr>
              <a:t>• Where AI Excelled: </a:t>
            </a:r>
            <a:r>
              <a:rPr>
                <a:solidFill>
                  <a:srgbClr val="E2E8F0"/>
                </a:solidFill>
              </a:rPr>
              <a:t>Rapid algorithmic exploration (evaluating K-Means, Isolation Forest, XGBoost), generating distributed PySpark partition logic, and writing client-side dynamic plotting code in minutes.</a:t>
            </a:r>
          </a:p>
          <a:p>
            <a:pPr>
              <a:defRPr sz="880"/>
            </a:pPr>
            <a:r>
              <a:rPr b="1">
                <a:solidFill>
                  <a:srgbClr val="38BDF8"/>
                </a:solidFill>
              </a:rPr>
              <a:t>• Where Human Design Corrected AI: </a:t>
            </a:r>
            <a:r>
              <a:rPr>
                <a:solidFill>
                  <a:srgbClr val="E2E8F0"/>
                </a:solidFill>
              </a:rPr>
              <a:t>Enforced real Brazilian geographic routing realities (preventing AI from grouping disconnected states), constrained graph schemas to avoid phantom nodes, and prioritized dispatcher ergonomic usability over black-box complexity.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
            <a:ext cx="11064240" cy="502920"/>
          </a:xfrm>
          <a:prstGeom prst="rect">
            <a:avLst/>
          </a:prstGeom>
          <a:noFill/>
        </p:spPr>
        <p:txBody>
          <a:bodyPr wrap="none">
            <a:spAutoFit/>
          </a:bodyPr>
          <a:lstStyle/>
          <a:p>
            <a:pPr>
              <a:defRPr sz="2100" b="1">
                <a:solidFill>
                  <a:srgbClr val="FFFFFF"/>
                </a:solidFill>
                <a:latin typeface="Calibri"/>
              </a:defRPr>
            </a:pPr>
            <a:r>
              <a:t>Slide 10 — Agentic AI Workflow, Findings, Limitations &amp; Stage 3 Roadmap</a:t>
            </a:r>
          </a:p>
        </p:txBody>
      </p:sp>
      <p:sp>
        <p:nvSpPr>
          <p:cNvPr id="4" name="TextBox 3"/>
          <p:cNvSpPr txBox="1"/>
          <p:nvPr/>
        </p:nvSpPr>
        <p:spPr>
          <a:xfrm>
            <a:off x="548640" y="694944"/>
            <a:ext cx="11064240" cy="320040"/>
          </a:xfrm>
          <a:prstGeom prst="rect">
            <a:avLst/>
          </a:prstGeom>
          <a:noFill/>
        </p:spPr>
        <p:txBody>
          <a:bodyPr wrap="none">
            <a:spAutoFit/>
          </a:bodyPr>
          <a:lstStyle/>
          <a:p>
            <a:pPr>
              <a:defRPr sz="1100">
                <a:solidFill>
                  <a:srgbClr val="38BDF8"/>
                </a:solidFill>
                <a:latin typeface="Calibri"/>
              </a:defRPr>
            </a:pPr>
            <a:r>
              <a:t>Tools Utilized, Representative Engineering Prompts, Technical Limitations, and Next Stage Transition</a:t>
            </a:r>
          </a:p>
        </p:txBody>
      </p:sp>
      <p:sp>
        <p:nvSpPr>
          <p:cNvPr id="5" name="Rounded Rectangle 4"/>
          <p:cNvSpPr/>
          <p:nvPr/>
        </p:nvSpPr>
        <p:spPr>
          <a:xfrm>
            <a:off x="548640" y="1097280"/>
            <a:ext cx="3474720" cy="5394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88720"/>
            <a:ext cx="3200400" cy="5212080"/>
          </a:xfrm>
          <a:prstGeom prst="rect">
            <a:avLst/>
          </a:prstGeom>
          <a:noFill/>
        </p:spPr>
        <p:txBody>
          <a:bodyPr wrap="square">
            <a:spAutoFit/>
          </a:bodyPr>
          <a:lstStyle/>
          <a:p>
            <a:pPr>
              <a:defRPr sz="1200" b="1">
                <a:solidFill>
                  <a:srgbClr val="38BDF8"/>
                </a:solidFill>
              </a:defRPr>
            </a:pPr>
            <a:r>
              <a:t>🛠️ Agentic Tools &amp; Prompts</a:t>
            </a:r>
          </a:p>
          <a:p>
            <a:pPr>
              <a:spcAft>
                <a:spcPts val="300"/>
              </a:spcAft>
              <a:defRPr sz="880"/>
            </a:pPr>
            <a:r>
              <a:rPr b="1">
                <a:solidFill>
                  <a:srgbClr val="FBBF24"/>
                </a:solidFill>
              </a:rPr>
              <a:t>• Agentic AI Platforms: </a:t>
            </a:r>
            <a:r>
              <a:rPr>
                <a:solidFill>
                  <a:srgbClr val="E2E8F0"/>
                </a:solidFill>
              </a:rPr>
              <a:t>Google Antigravity, Claude Code (Opus/Sonnet), and custom Python data science agents.</a:t>
            </a:r>
          </a:p>
          <a:p>
            <a:pPr>
              <a:spcAft>
                <a:spcPts val="300"/>
              </a:spcAft>
              <a:defRPr sz="880"/>
            </a:pPr>
            <a:r>
              <a:rPr b="1">
                <a:solidFill>
                  <a:srgbClr val="FBBF24"/>
                </a:solidFill>
              </a:rPr>
              <a:t>• Representative Prompt 1 (Data Pipeline): </a:t>
            </a:r>
            <a:r>
              <a:rPr>
                <a:solidFill>
                  <a:srgbClr val="E2E8F0"/>
                </a:solidFill>
              </a:rPr>
              <a:t>'Given 1,702 Olist records, design a distributed PySpark ingestion pipeline that partitions by customer_state, imputes delivery nulls, and calculates transit deltas.'</a:t>
            </a:r>
          </a:p>
          <a:p>
            <a:pPr>
              <a:spcAft>
                <a:spcPts val="300"/>
              </a:spcAft>
              <a:defRPr sz="880"/>
            </a:pPr>
            <a:r>
              <a:rPr b="1">
                <a:solidFill>
                  <a:srgbClr val="FBBF24"/>
                </a:solidFill>
              </a:rPr>
              <a:t>• Representative Prompt 2 (Analytics): </a:t>
            </a:r>
            <a:r>
              <a:rPr>
                <a:solidFill>
                  <a:srgbClr val="E2E8F0"/>
                </a:solidFill>
              </a:rPr>
              <a:t>'Train an Isolation Forest and K-Means model on freight value and delivery days to identify the top 5% logistics anomalies and correlate them with 1-star reviews.'</a:t>
            </a:r>
          </a:p>
          <a:p>
            <a:pPr>
              <a:spcAft>
                <a:spcPts val="300"/>
              </a:spcAft>
              <a:defRPr sz="880"/>
            </a:pPr>
            <a:r>
              <a:rPr b="1">
                <a:solidFill>
                  <a:srgbClr val="FBBF24"/>
                </a:solidFill>
              </a:rPr>
              <a:t>• Representative Prompt 3 (Multimodal): </a:t>
            </a:r>
            <a:r>
              <a:rPr>
                <a:solidFill>
                  <a:srgbClr val="E2E8F0"/>
                </a:solidFill>
              </a:rPr>
              <a:t>'Generate a Streamlit UI component that renders dual-stream text narratives and dynamic Plotly SLA comparison charts on-the-fly.'</a:t>
            </a:r>
          </a:p>
        </p:txBody>
      </p:sp>
      <p:sp>
        <p:nvSpPr>
          <p:cNvPr id="7" name="Rounded Rectangle 6"/>
          <p:cNvSpPr/>
          <p:nvPr/>
        </p:nvSpPr>
        <p:spPr>
          <a:xfrm>
            <a:off x="4297680" y="1097280"/>
            <a:ext cx="3566160" cy="5394960"/>
          </a:xfrm>
          <a:prstGeom prst="roundRect">
            <a:avLst/>
          </a:prstGeom>
          <a:solidFill>
            <a:srgbClr val="1E293B"/>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188720"/>
            <a:ext cx="3291840" cy="5212080"/>
          </a:xfrm>
          <a:prstGeom prst="rect">
            <a:avLst/>
          </a:prstGeom>
          <a:noFill/>
        </p:spPr>
        <p:txBody>
          <a:bodyPr wrap="square">
            <a:spAutoFit/>
          </a:bodyPr>
          <a:lstStyle/>
          <a:p>
            <a:pPr>
              <a:defRPr sz="1200" b="1">
                <a:solidFill>
                  <a:srgbClr val="FB7185"/>
                </a:solidFill>
              </a:defRPr>
            </a:pPr>
            <a:r>
              <a:t>⚠️ Technical Limitations Found</a:t>
            </a:r>
          </a:p>
          <a:p>
            <a:pPr>
              <a:spcAft>
                <a:spcPts val="300"/>
              </a:spcAft>
              <a:defRPr sz="880"/>
            </a:pPr>
            <a:r>
              <a:rPr b="1">
                <a:solidFill>
                  <a:srgbClr val="FB7185"/>
                </a:solidFill>
              </a:rPr>
              <a:t>• 1. Graph Data Sparsity: </a:t>
            </a:r>
            <a:r>
              <a:rPr>
                <a:solidFill>
                  <a:srgbClr val="E2E8F0"/>
                </a:solidFill>
              </a:rPr>
              <a:t>Sparse connections between peripheral state sellers (e.g. Bahia) caused cold-start embedding issues in raw GCNs, requiring GraphSAGE neighborhood sampling.</a:t>
            </a:r>
          </a:p>
          <a:p>
            <a:pPr>
              <a:spcAft>
                <a:spcPts val="300"/>
              </a:spcAft>
              <a:defRPr sz="880"/>
            </a:pPr>
            <a:r>
              <a:rPr b="1">
                <a:solidFill>
                  <a:srgbClr val="FB7185"/>
                </a:solidFill>
              </a:rPr>
              <a:t>• 2. LLM Context Window Overhead: </a:t>
            </a:r>
            <a:r>
              <a:rPr>
                <a:solidFill>
                  <a:srgbClr val="E2E8F0"/>
                </a:solidFill>
              </a:rPr>
              <a:t>Feeding raw 3-hop JSON subgraphs flooded LLM context tokens (2,400 tokens/query). Solved by pre-aggregating Leiden community summaries (reducing context by 90%).</a:t>
            </a:r>
          </a:p>
          <a:p>
            <a:pPr>
              <a:spcAft>
                <a:spcPts val="300"/>
              </a:spcAft>
              <a:defRPr sz="880"/>
            </a:pPr>
            <a:r>
              <a:rPr b="1">
                <a:solidFill>
                  <a:srgbClr val="FB7185"/>
                </a:solidFill>
              </a:rPr>
              <a:t>• 3. Syntactic Hallucination in Plotting: </a:t>
            </a:r>
            <a:r>
              <a:rPr>
                <a:solidFill>
                  <a:srgbClr val="E2E8F0"/>
                </a:solidFill>
              </a:rPr>
              <a:t>Agentic AI occasionally generated deprecated Matplotlib parameter flags during chart synthesis. Corrected via strict templated JSON plotting specs.</a:t>
            </a:r>
          </a:p>
          <a:p>
            <a:pPr>
              <a:spcAft>
                <a:spcPts val="300"/>
              </a:spcAft>
              <a:defRPr sz="880"/>
            </a:pPr>
            <a:r>
              <a:rPr b="1">
                <a:solidFill>
                  <a:srgbClr val="FB7185"/>
                </a:solidFill>
              </a:rPr>
              <a:t>• 4. Neo4j Cloud Idle Timeout: </a:t>
            </a:r>
            <a:r>
              <a:rPr>
                <a:solidFill>
                  <a:srgbClr val="E2E8F0"/>
                </a:solidFill>
              </a:rPr>
              <a:t>AuraDB free instances auto-pause during idle periods, requiring automated keep-alive pings in the application startup script.</a:t>
            </a:r>
          </a:p>
        </p:txBody>
      </p:sp>
      <p:sp>
        <p:nvSpPr>
          <p:cNvPr id="9" name="Rounded Rectangle 8"/>
          <p:cNvSpPr/>
          <p:nvPr/>
        </p:nvSpPr>
        <p:spPr>
          <a:xfrm>
            <a:off x="8138160" y="1097280"/>
            <a:ext cx="3474720" cy="53949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188720"/>
            <a:ext cx="3200400" cy="5212080"/>
          </a:xfrm>
          <a:prstGeom prst="rect">
            <a:avLst/>
          </a:prstGeom>
          <a:noFill/>
        </p:spPr>
        <p:txBody>
          <a:bodyPr wrap="square">
            <a:spAutoFit/>
          </a:bodyPr>
          <a:lstStyle/>
          <a:p>
            <a:pPr>
              <a:defRPr sz="1200" b="1">
                <a:solidFill>
                  <a:srgbClr val="34D399"/>
                </a:solidFill>
              </a:defRPr>
            </a:pPr>
            <a:r>
              <a:t>🚀 Stage 3: Human-AI Co-Design</a:t>
            </a:r>
          </a:p>
          <a:p>
            <a:pPr>
              <a:spcAft>
                <a:spcPts val="300"/>
              </a:spcAft>
              <a:defRPr sz="880"/>
            </a:pPr>
            <a:r>
              <a:rPr b="1">
                <a:solidFill>
                  <a:srgbClr val="34D399"/>
                </a:solidFill>
              </a:rPr>
              <a:t>• Stage 3 Objective: </a:t>
            </a:r>
            <a:r>
              <a:rPr>
                <a:solidFill>
                  <a:srgbClr val="E2E8F0"/>
                </a:solidFill>
              </a:rPr>
              <a:t>Unite human domain supervision with AI automated pipelines to refine and evaluate the end-to-end community-aware system.</a:t>
            </a:r>
          </a:p>
          <a:p>
            <a:pPr>
              <a:spcAft>
                <a:spcPts val="300"/>
              </a:spcAft>
              <a:defRPr sz="880"/>
            </a:pPr>
            <a:r>
              <a:rPr b="1">
                <a:solidFill>
                  <a:srgbClr val="34D399"/>
                </a:solidFill>
              </a:rPr>
              <a:t>• Step 1: Live Leiden Graph Integration: </a:t>
            </a:r>
            <a:r>
              <a:rPr>
                <a:solidFill>
                  <a:srgbClr val="E2E8F0"/>
                </a:solidFill>
              </a:rPr>
              <a:t>Execute Leiden community detection natively in Neo4j Graph Data Science (GDS) and store community IDs as graph node properties.</a:t>
            </a:r>
          </a:p>
          <a:p>
            <a:pPr>
              <a:spcAft>
                <a:spcPts val="300"/>
              </a:spcAft>
              <a:defRPr sz="880"/>
            </a:pPr>
            <a:r>
              <a:rPr b="1">
                <a:solidFill>
                  <a:srgbClr val="34D399"/>
                </a:solidFill>
              </a:rPr>
              <a:t>• Step 2: Streamlit Cockpit Deployment: </a:t>
            </a:r>
            <a:r>
              <a:rPr>
                <a:solidFill>
                  <a:srgbClr val="E2E8F0"/>
                </a:solidFill>
              </a:rPr>
              <a:t>Deploy the complete 3-panel multimodal cockpit on Streamlit Community Cloud with live AuraDB connection.</a:t>
            </a:r>
          </a:p>
          <a:p>
            <a:pPr>
              <a:spcAft>
                <a:spcPts val="300"/>
              </a:spcAft>
              <a:defRPr sz="880"/>
            </a:pPr>
            <a:r>
              <a:rPr b="1">
                <a:solidFill>
                  <a:srgbClr val="34D399"/>
                </a:solidFill>
              </a:rPr>
              <a:t>• Step 3: User Evaluation Benchmarks: </a:t>
            </a:r>
            <a:r>
              <a:rPr>
                <a:solidFill>
                  <a:srgbClr val="E2E8F0"/>
                </a:solidFill>
              </a:rPr>
              <a:t>Conduct structured user testing with 5 operational logistics test cases, measuring triage speed, answer accuracy, and mitigation effectiveness.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