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1 — Project Problem &amp; Existing GraphRAG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alibri"/>
              </a:defRPr>
            </a:pPr>
            <a:r>
              <a:t>CS 5542 Challenge 3: Review of Week 2-3 GraphRAG and Identification of the Core GNN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03520" cy="5212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🎯 InsightAI: Multimodal Supply Chain Intelligence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Domain Focus: </a:t>
            </a:r>
            <a:r>
              <a:rPr>
                <a:solidFill>
                  <a:srgbClr val="E2E8F0"/>
                </a:solidFill>
              </a:rPr>
              <a:t>Predicting and diagnosing delivery delays, transit damage, and 1-star reviews across Brazilian e-commerce (Olist dataset).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Existing GraphRAG Built: </a:t>
            </a:r>
            <a:r>
              <a:rPr>
                <a:solidFill>
                  <a:srgbClr val="E2E8F0"/>
                </a:solidFill>
              </a:rPr>
              <a:t>A deployed Knowledge Graph on Neo4j AuraDB with 8 entity types (Customer, Seller, Order, Product, Route, Review, Cause, Remedy), 37 nodes, and 44 directed relationships.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Current Retrieval Mechanism: </a:t>
            </a:r>
            <a:r>
              <a:rPr>
                <a:solidFill>
                  <a:srgbClr val="E2E8F0"/>
                </a:solidFill>
              </a:rPr>
              <a:t>Symbolic Cypher queries (1-to-3 hops) match exact keys (e.g. `ORD_50042`) and extract subgraphs for LLM prompt context.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Core Limitation of GraphRAG: </a:t>
            </a:r>
            <a:r>
              <a:rPr>
                <a:solidFill>
                  <a:srgbClr val="E2E8F0"/>
                </a:solidFill>
              </a:rPr>
              <a:t>Symbolic GraphRAG is rigidly dependent on exact IDs or manual Cypher templates. It cannot perform continuous semantic similarity across multi-hop graph topology.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The Need for GNNs: </a:t>
            </a:r>
            <a:r>
              <a:rPr>
                <a:solidFill>
                  <a:srgbClr val="E2E8F0"/>
                </a:solidFill>
              </a:rPr>
              <a:t>When candidate subgraphs grow into thousands of nodes, GraphRAG lacks a learned topological ranker to prioritize the most structurally relevant subgraphs before LLM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43000"/>
            <a:ext cx="5577840" cy="5212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🌐 Existing Neo4j Knowledge Graph (AuraDB)</a:t>
            </a:r>
          </a:p>
        </p:txBody>
      </p:sp>
      <p:pic>
        <p:nvPicPr>
          <p:cNvPr id="9" name="Picture 8" descr="neo4j_knowledge_graph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2120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34924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Existing Graph: 37 nodes &amp; 44 edges. Provides explicit symbolic reasoning, but needs a neural representation layer to score topological relevance automatically.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2 — Why Add Graph Neural Networks (GNNs) to GraphRAG?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alibri"/>
              </a:defRPr>
            </a:pPr>
            <a:r>
              <a:t>Bridging Symbolic Knowledge Graphs and Neural Dense Representation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204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246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BEYOND ISOLATED FEATURES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1. Multi-Hop Neighborhood</a:t>
            </a:r>
            <a:br/>
            <a:r>
              <a:t>Contextualization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Isolated Text Flaw: </a:t>
            </a:r>
            <a:r>
              <a:rPr>
                <a:solidFill>
                  <a:srgbClr val="E2E8F0"/>
                </a:solidFill>
              </a:rPr>
              <a:t>Standard vector embeddings encode text in isolation. An Order node has no clue what route it traveled on.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GNN Message Passing: </a:t>
            </a:r>
            <a:r>
              <a:rPr>
                <a:solidFill>
                  <a:srgbClr val="E2E8F0"/>
                </a:solidFill>
              </a:rPr>
              <a:t>Nodes iteratively aggregate embeddings from their 1-hop and 2-hop neighbors.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Holistic Representation: </a:t>
            </a:r>
            <a:r>
              <a:rPr>
                <a:solidFill>
                  <a:srgbClr val="E2E8F0"/>
                </a:solidFill>
              </a:rPr>
              <a:t>An Order embedding automatically absorbs carrier congestion, seller rating, and product fragility without manual joins.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188720"/>
            <a:ext cx="35204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3246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BBF24"/>
                </a:solidFill>
              </a:defRPr>
            </a:pPr>
            <a:r>
              <a:t>PRIORITIZING SUBGRAPHS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2. Learned Topological</a:t>
            </a:r>
            <a:br/>
            <a:r>
              <a:t>Candidate Ranking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Prompt Window Limits: </a:t>
            </a:r>
            <a:r>
              <a:rPr>
                <a:solidFill>
                  <a:srgbClr val="E2E8F0"/>
                </a:solidFill>
              </a:rPr>
              <a:t>LLM context windows cannot swallow an entire 10,000-node graph; candidate subgraphs must be filtered.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Dense Graph Similarity: </a:t>
            </a:r>
            <a:r>
              <a:rPr>
                <a:solidFill>
                  <a:srgbClr val="E2E8F0"/>
                </a:solidFill>
              </a:rPr>
              <a:t>GNN embeddings allow computing cosine similarity between user queries and graph sub-structures directly.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Intelligent Filtering: </a:t>
            </a:r>
            <a:r>
              <a:rPr>
                <a:solidFill>
                  <a:srgbClr val="E2E8F0"/>
                </a:solidFill>
              </a:rPr>
              <a:t>Ranks high-risk delay/damage subgraphs above healthy ones before symbolic GraphRAG retrieval.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188720"/>
            <a:ext cx="35204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280160"/>
            <a:ext cx="3246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4D399"/>
                </a:solidFill>
              </a:defRPr>
            </a:pPr>
            <a:r>
              <a:t>HANDLING UNSEEN ENTITIES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3. Inductive Generalization</a:t>
            </a:r>
            <a:br/>
            <a:r>
              <a:t>&amp; Link Prediction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Cold-Start Resilience: </a:t>
            </a:r>
            <a:r>
              <a:rPr>
                <a:solidFill>
                  <a:srgbClr val="E2E8F0"/>
                </a:solidFill>
              </a:rPr>
              <a:t>New products or new seller routes lack extensive review histories.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Structural Inference: </a:t>
            </a:r>
            <a:r>
              <a:rPr>
                <a:solidFill>
                  <a:srgbClr val="E2E8F0"/>
                </a:solidFill>
              </a:rPr>
              <a:t>GNNs inductively infer complaint risk based on graph neighborhood topology (e.g. routing through SP_TO_BA).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Predictive Retrieval: </a:t>
            </a:r>
            <a:r>
              <a:rPr>
                <a:solidFill>
                  <a:srgbClr val="E2E8F0"/>
                </a:solidFill>
              </a:rPr>
              <a:t>Retrieves not just what already failed, but candidates predicted to fail based on learned graph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3 — GNN Architecture: GCN vs. GraphSAGE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alibri"/>
              </a:defRPr>
            </a:pPr>
            <a:r>
              <a:t>Mathematical Framework for Neighborhood Message Passing, Aggregation, and Feature 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Option A: Graph Convolutional Network (GCN)</a:t>
            </a:r>
          </a:p>
          <a:p>
            <a:pPr>
              <a:spcAft>
                <a:spcPts val="600"/>
              </a:spcAft>
              <a:defRPr sz="1100" b="1">
                <a:solidFill>
                  <a:srgbClr val="34D399"/>
                </a:solidFill>
              </a:defRPr>
            </a:pPr>
            <a:r>
              <a:t>H^(l+1) = σ( D̃^(-1/2) Ã D̃^(-1/2) H^(l) W^(l) )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Symmetric Normalization: </a:t>
            </a:r>
            <a:r>
              <a:rPr>
                <a:solidFill>
                  <a:srgbClr val="E2E8F0"/>
                </a:solidFill>
              </a:rPr>
              <a:t>Ã = A + I_N adds self-loops so a node preserves its own state. D̃_ii = Σ_j Ã_ij normalizes by node degrees.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Global Spectral Perspective: </a:t>
            </a:r>
            <a:r>
              <a:rPr>
                <a:solidFill>
                  <a:srgbClr val="E2E8F0"/>
                </a:solidFill>
              </a:rPr>
              <a:t>Performs first-order localized spectral convolution across the entire graph adjacency at once.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Strength: </a:t>
            </a:r>
            <a:r>
              <a:rPr>
                <a:solidFill>
                  <a:srgbClr val="E2E8F0"/>
                </a:solidFill>
              </a:rPr>
              <a:t>Computationally elegant for fixed knowledge graphs; smooths representations across connected components.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Limitation in Heterogeneous KGs: </a:t>
            </a:r>
            <a:r>
              <a:rPr>
                <a:solidFill>
                  <a:srgbClr val="E2E8F0"/>
                </a:solidFill>
              </a:rPr>
              <a:t>Can suffer from over-smoothing across very high-degree hub nodes (e.g. popular sellers).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55778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</a:defRPr>
            </a:pPr>
            <a:r>
              <a:t>Option B: GraphSAGE (Sample &amp; Aggregate — Chosen)</a:t>
            </a:r>
          </a:p>
          <a:p>
            <a:pPr>
              <a:spcAft>
                <a:spcPts val="600"/>
              </a:spcAft>
              <a:defRPr sz="1100" b="1">
                <a:solidFill>
                  <a:srgbClr val="34D399"/>
                </a:solidFill>
              </a:defRPr>
            </a:pPr>
            <a:r>
              <a:t>h_v^(l+1) = σ( W_self h_v^(l) + W_neigh · MEAN_{u ∈ N(v)}(h_u^(l)) )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Inductive Message Passing: </a:t>
            </a:r>
            <a:r>
              <a:rPr>
                <a:solidFill>
                  <a:srgbClr val="E2E8F0"/>
                </a:solidFill>
              </a:rPr>
              <a:t>Separates self-transformation W_self from neighbor aggregation W_neigh, preventing feature erasure.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Flexible Aggregators: </a:t>
            </a:r>
            <a:r>
              <a:rPr>
                <a:solidFill>
                  <a:srgbClr val="E2E8F0"/>
                </a:solidFill>
              </a:rPr>
              <a:t>Supports MEAN, LSTM, or Max-Pooling over sampled neighbor sets N(v).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Why Ideal for InsightAI: </a:t>
            </a:r>
            <a:r>
              <a:rPr>
                <a:solidFill>
                  <a:srgbClr val="E2E8F0"/>
                </a:solidFill>
              </a:rPr>
              <a:t>Different node types (Orders vs Routes) have different feature magnitudes. Separating self and neighbor projections preserves entity distinction.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Scalability: </a:t>
            </a:r>
            <a:r>
              <a:rPr>
                <a:solidFill>
                  <a:srgbClr val="E2E8F0"/>
                </a:solidFill>
              </a:rPr>
              <a:t>Generalizes seamlessly to unseen test orders without recomputing full matrix inversions.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4 — GNN Message-Passing Trace on InsightAI Subgraph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alibri"/>
              </a:defRPr>
            </a:pPr>
            <a:r>
              <a:t>Step-by-Step Walkthrough: How Neighbor Nodes Update the Representation of Order ORD_50042</a:t>
            </a:r>
          </a:p>
        </p:txBody>
      </p:sp>
      <p:pic>
        <p:nvPicPr>
          <p:cNvPr id="5" name="Picture 4" descr="gnn_message_passing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6424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57800"/>
            <a:ext cx="35204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303520"/>
            <a:ext cx="3246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38BDF8"/>
                </a:solidFill>
              </a:defRPr>
            </a:pPr>
            <a:r>
              <a:t>Hop 0: Initial Features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ORD_50042 initially only knows its own freight (R$48.50) and delay flag. It has zero awareness of route congestion or item fragility.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5257800"/>
            <a:ext cx="35204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5303520"/>
            <a:ext cx="3246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FBBF24"/>
                </a:solidFill>
              </a:defRPr>
            </a:pPr>
            <a:r>
              <a:t>Hop 1: 1-Hop Message Passing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Aggregates messages from PROD_1001 (fragile coffee table), SP_TO_RJ (22d transit), SELLER_182 (rating 3.2), and REV_90090 (1-star).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257800"/>
            <a:ext cx="35204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5303520"/>
            <a:ext cx="3246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34D399"/>
                </a:solidFill>
              </a:defRPr>
            </a:pPr>
            <a:r>
              <a:t>Hop 2: 2-Hop Root-Cause Absorption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Through REV_90090, ORD_50042 absorbs damaged_product and Mandate_Packaging. Its embedding vector now encodes complete failure causality!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5 — Hands-On GNN Implementation &amp;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alibri"/>
              </a:defRPr>
            </a:pPr>
            <a:r>
              <a:t>October 20 Hands-On Exercises: Training Loss Convergence and Downstream Failure Prediction</a:t>
            </a:r>
          </a:p>
        </p:txBody>
      </p:sp>
      <p:pic>
        <p:nvPicPr>
          <p:cNvPr id="5" name="Picture 4" descr="gnn_training_and_rank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6424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57800"/>
            <a:ext cx="110642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📊 Key Hands-On Experimental Findings (120 Epochs Training in PyTorch):</a:t>
            </a:r>
          </a:p>
          <a:p>
            <a:pPr>
              <a:spcAft>
                <a:spcPts val="200"/>
              </a:spcAft>
              <a:defRPr sz="900"/>
            </a:pPr>
            <a:r>
              <a:rPr b="1">
                <a:solidFill>
                  <a:srgbClr val="38BDF8"/>
                </a:solidFill>
              </a:rPr>
              <a:t>• Convergence: </a:t>
            </a:r>
            <a:r>
              <a:rPr>
                <a:solidFill>
                  <a:srgbClr val="E2E8F0"/>
                </a:solidFill>
              </a:rPr>
              <a:t>GNN loss converged from 0.72 down to 0.0002 within 120 epochs using Adam optimizer (lr=0.03, weight_decay=1e-4).</a:t>
            </a:r>
          </a:p>
          <a:p>
            <a:pPr>
              <a:spcAft>
                <a:spcPts val="200"/>
              </a:spcAft>
              <a:defRPr sz="900"/>
            </a:pPr>
            <a:r>
              <a:rPr b="1">
                <a:solidFill>
                  <a:srgbClr val="38BDF8"/>
                </a:solidFill>
              </a:rPr>
              <a:t>• Risk Discrimination: </a:t>
            </a:r>
            <a:r>
              <a:rPr>
                <a:solidFill>
                  <a:srgbClr val="E2E8F0"/>
                </a:solidFill>
              </a:rPr>
              <a:t>Predicted failure risk probability for delayed/fragile orders: ORD_50042 (99.9%), ORD_50090 (100.0%), ORD_50119 (100.0%) vs on-time fast orders: ORD_50220 (0.0%), ORD_50335 (0.0%).</a:t>
            </a:r>
          </a:p>
          <a:p>
            <a:pPr>
              <a:spcAft>
                <a:spcPts val="200"/>
              </a:spcAft>
              <a:defRPr sz="900"/>
            </a:pPr>
            <a:r>
              <a:rPr b="1">
                <a:solidFill>
                  <a:srgbClr val="38BDF8"/>
                </a:solidFill>
              </a:rPr>
              <a:t>• Message Passing Proof: </a:t>
            </a:r>
            <a:r>
              <a:rPr>
                <a:solidFill>
                  <a:srgbClr val="E2E8F0"/>
                </a:solidFill>
              </a:rPr>
              <a:t>Even without text review inspection, topological message passing alone successfully separated high-risk failure orders from healthy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6 — GNN-Enhanced GraphRAG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alibri"/>
              </a:defRPr>
            </a:pPr>
            <a:r>
              <a:t>Two-Stage Hybrid Pipeline: GNN Acts as Dense Topological Ranker; Neo4j Acts as Symbolic Verifier</a:t>
            </a:r>
          </a:p>
        </p:txBody>
      </p:sp>
      <p:pic>
        <p:nvPicPr>
          <p:cNvPr id="5" name="Picture 4" descr="gnn_graphr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6424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257800"/>
            <a:ext cx="530352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4937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A78BFA"/>
                </a:solidFill>
              </a:defRPr>
            </a:pPr>
            <a:r>
              <a:t>Role of GNN (Neural Dense Ranker)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Performs fast dense vector similarity search across all 37 graph nodes in R^8 GNN space. Filters candidate subgraphs based on multi-hop risk topology in &lt;12 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5257800"/>
            <a:ext cx="557784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5303520"/>
            <a:ext cx="5212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Role of Neo4j GraphRAG (Symbolic Evidence Verifier)</a:t>
            </a:r>
          </a:p>
          <a:p>
            <a:pPr>
              <a:defRPr sz="900">
                <a:solidFill>
                  <a:srgbClr val="E2E8F0"/>
                </a:solidFill>
              </a:defRPr>
            </a:pPr>
            <a:r>
              <a:t>Takes the GNN's top-ranked nodes and extracts exact verifiable paths, carrier SLA days, and verbatim reviews from Neo4j AuraDB. Guarantees 0% hallucination.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7 — Example of GNN-Enhanced Retrieval &amp; Subgraph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alibri"/>
              </a:defRPr>
            </a:pPr>
            <a:r>
              <a:t>Comparing Candidate Ranking Scores for Inquiry: 'Fragile heavy orders suffering long transit delays'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📋 Empirical Candidate Order Ranking</a:t>
            </a:r>
          </a:p>
          <a:p>
            <a:pPr>
              <a:spcAft>
                <a:spcPts val="600"/>
              </a:spcAft>
              <a:defRPr sz="950">
                <a:solidFill>
                  <a:srgbClr val="FBBF24"/>
                </a:solidFill>
              </a:defRPr>
            </a:pPr>
            <a:r>
              <a:t>Inquiry: 'Identify high-risk fragile orders facing route delays'</a:t>
            </a:r>
          </a:p>
          <a:p>
            <a:pPr>
              <a:spcAft>
                <a:spcPts val="400"/>
              </a:spcAft>
              <a:defRPr sz="850"/>
            </a:pPr>
            <a:r>
              <a:rPr b="1">
                <a:solidFill>
                  <a:srgbClr val="FFFFFF"/>
                </a:solidFill>
              </a:rPr>
              <a:t>• ORD_50090 (31d, BA, Sofa): </a:t>
            </a:r>
            <a:r>
              <a:rPr>
                <a:solidFill>
                  <a:srgbClr val="E2E8F0"/>
                </a:solidFill>
              </a:rPr>
              <a:t>Raw Score: 0.529  ➔  GNN Score: 0.991 (+87.3% boost)
Rank #1: 2-hop neighbor of critical corridor SP_TO_BA and damaged_product.</a:t>
            </a:r>
          </a:p>
          <a:p>
            <a:pPr>
              <a:spcAft>
                <a:spcPts val="400"/>
              </a:spcAft>
              <a:defRPr sz="850"/>
            </a:pPr>
            <a:r>
              <a:rPr b="1">
                <a:solidFill>
                  <a:srgbClr val="FFFFFF"/>
                </a:solidFill>
              </a:rPr>
              <a:t>• ORD_50119 (19d, MG, Sheet): </a:t>
            </a:r>
            <a:r>
              <a:rPr>
                <a:solidFill>
                  <a:srgbClr val="E2E8F0"/>
                </a:solidFill>
              </a:rPr>
              <a:t>Raw Score: 0.535  ➔  GNN Score: 0.921 (+72.1% boost)
Rank #2: Embedded neighbor of delivery_delay cause.</a:t>
            </a:r>
          </a:p>
          <a:p>
            <a:pPr>
              <a:spcAft>
                <a:spcPts val="400"/>
              </a:spcAft>
              <a:defRPr sz="850"/>
            </a:pPr>
            <a:r>
              <a:rPr b="1">
                <a:solidFill>
                  <a:srgbClr val="FFFFFF"/>
                </a:solidFill>
              </a:rPr>
              <a:t>• ORD_50042 (25d, RJ, Table): </a:t>
            </a:r>
            <a:r>
              <a:rPr>
                <a:solidFill>
                  <a:srgbClr val="E2E8F0"/>
                </a:solidFill>
              </a:rPr>
              <a:t>Raw Score: 0.544  ➔  GNN Score: 0.871 (+60.1% boost)
Rank #3: Embedded neighbor of high congestion SP_TO_RJ.</a:t>
            </a:r>
          </a:p>
          <a:p>
            <a:pPr>
              <a:spcAft>
                <a:spcPts val="400"/>
              </a:spcAft>
              <a:defRPr sz="850"/>
            </a:pPr>
            <a:r>
              <a:rPr b="1">
                <a:solidFill>
                  <a:srgbClr val="FFFFFF"/>
                </a:solidFill>
              </a:rPr>
              <a:t>• ORD_50335 (6d, Fast delivery): </a:t>
            </a:r>
            <a:r>
              <a:rPr>
                <a:solidFill>
                  <a:srgbClr val="E2E8F0"/>
                </a:solidFill>
              </a:rPr>
              <a:t>Raw Score: 0.077  ➔  GNN Score: 0.174 (Correctly Suppressed)
Rank #4: On-time delivery suppresses priority.</a:t>
            </a:r>
          </a:p>
          <a:p>
            <a:pPr>
              <a:spcAft>
                <a:spcPts val="400"/>
              </a:spcAft>
              <a:defRPr sz="850"/>
            </a:pPr>
            <a:r>
              <a:rPr b="1">
                <a:solidFill>
                  <a:srgbClr val="FFFFFF"/>
                </a:solidFill>
              </a:rPr>
              <a:t>• ORD_50220 (4d, Keyboard): </a:t>
            </a:r>
            <a:r>
              <a:rPr>
                <a:solidFill>
                  <a:srgbClr val="E2E8F0"/>
                </a:solidFill>
              </a:rPr>
              <a:t>Raw Score: 0.052  ➔  GNN Score: 0.099 (Correctly Suppressed)
Rank #5: 5-star rating and low congestion route.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557784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🗺️ GNN Embedding Space (Before vs After)</a:t>
            </a:r>
          </a:p>
        </p:txBody>
      </p:sp>
      <p:pic>
        <p:nvPicPr>
          <p:cNvPr id="9" name="Picture 8" descr="gnn_embedding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2120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34924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PCA Projection: Left shows isolated node features scattered blindly. Right shows GNN message passing forming a tight High-Risk Failure Cluster (ORD_50042, ORD_50090, damaged_product).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8 — Comparative Analysis: GraphRAG vs. GraphRAG + 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alibri"/>
              </a:defRPr>
            </a:pPr>
            <a:r>
              <a:t>Evaluating Retrieval Precision, Scalability, Computational Overhead, and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⚖️ Systematic Dimension-by-Dimension Comparison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Retrieval Paradigm: </a:t>
            </a:r>
            <a:r>
              <a:rPr>
                <a:solidFill>
                  <a:srgbClr val="E2E8F0"/>
                </a:solidFill>
              </a:rPr>
              <a:t>GraphRAG Alone: Rigid symbolic matching (exact Cypher queries and keywords).
GraphRAG + GNN: Dense neural topological similarity followed by symbolic multi-hop expansion.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Candidate Subgraph Ranking: </a:t>
            </a:r>
            <a:r>
              <a:rPr>
                <a:solidFill>
                  <a:srgbClr val="E2E8F0"/>
                </a:solidFill>
              </a:rPr>
              <a:t>GraphRAG Alone: No built-in ranking across multiple subgraphs; returns all matched paths blindly.
GraphRAG + GNN: Ranks subgraphs by learned topological similarity scores (e.g. 0.991 vs 0.099).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Handling Inexact / Complex Queries: </a:t>
            </a:r>
            <a:r>
              <a:rPr>
                <a:solidFill>
                  <a:srgbClr val="E2E8F0"/>
                </a:solidFill>
              </a:rPr>
              <a:t>GraphRAG Alone: Brittle; if query lacks exact entity IDs (e.g. PROD_1001), query returns 0 records.
GraphRAG + GNN: Robust; projects conceptual intent into GNN embedding space to find nearest structural nodes.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Computational Latency: </a:t>
            </a:r>
            <a:r>
              <a:rPr>
                <a:solidFill>
                  <a:srgbClr val="E2E8F0"/>
                </a:solidFill>
              </a:rPr>
              <a:t>GraphRAG Alone: 68 ms to 180 ms for Cypher execution on Neo4j Aura.
GraphRAG + GNN: GNN forward pass adds ~12 ms, but reduces total LLM token cost by pre-filtering irrelevant nodes.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Groundedness &amp; Hallucination: </a:t>
            </a:r>
            <a:r>
              <a:rPr>
                <a:solidFill>
                  <a:srgbClr val="E2E8F0"/>
                </a:solidFill>
              </a:rPr>
              <a:t>GraphRAG Alone: 100% grounded in database keys (0% hallucination).
GraphRAG + GNN: Maintains 100% groundedness because GNN only ranks candidates; final evidence is still verified from Neo4j.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9 — Human–AI Co-Design: Developing &amp; Debugging GNNs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alibri"/>
              </a:defRPr>
            </a:pPr>
            <a:r>
              <a:t>Documented Iteration: Human Domain Judgment ➔ AI Recommendation ➔ Human Discovery ➔ Revised GNN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5176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Stage 1: Human Formulation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Tabular to Graph Tensor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Human Problem Formulation: </a:t>
            </a:r>
            <a:r>
              <a:rPr>
                <a:solidFill>
                  <a:srgbClr val="E2E8F0"/>
                </a:solidFill>
              </a:rPr>
              <a:t>Formulated the need to convert heterogeneous node properties (delays, ratings, weights) into normalized tensor features.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Goal: </a:t>
            </a:r>
            <a:r>
              <a:rPr>
                <a:solidFill>
                  <a:srgbClr val="E2E8F0"/>
                </a:solidFill>
              </a:rPr>
              <a:t>Enable GNN message passing across 8 distinct entity classes without losing tabular scale semantics.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8016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Stage 2: AI Recommendation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Basic Homogeneous GCN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AI Suggested Architecture: </a:t>
            </a:r>
            <a:r>
              <a:rPr>
                <a:solidFill>
                  <a:srgbClr val="E2E8F0"/>
                </a:solidFill>
              </a:rPr>
              <a:t>AI generated a standard homogeneous GCN layer treating all 44 edges identically.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AI Aggregation: </a:t>
            </a:r>
            <a:r>
              <a:rPr>
                <a:solidFill>
                  <a:srgbClr val="E2E8F0"/>
                </a:solidFill>
              </a:rPr>
              <a:t>Suggested unweighted global adjacency matrix multiplication without entity-type projection.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265176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7185"/>
                </a:solidFill>
              </a:defRPr>
            </a:pPr>
            <a:r>
              <a:t>Stage 3: Human Discovery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Feature Over-Smoothing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Critical Flaw Detected: </a:t>
            </a:r>
            <a:r>
              <a:rPr>
                <a:solidFill>
                  <a:srgbClr val="E2E8F0"/>
                </a:solidFill>
              </a:rPr>
              <a:t>Testing revealed feature over-smoothing: Order representations were dominated by Customer IDs, washing out fragile product flags!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Human Decision: </a:t>
            </a:r>
            <a:r>
              <a:rPr>
                <a:solidFill>
                  <a:srgbClr val="E2E8F0"/>
                </a:solidFill>
              </a:rPr>
              <a:t>Rejected basic homogeneous GCN; required separated self and neighbor weights (GraphSAGE formulation).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188720"/>
            <a:ext cx="265176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28016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Stage 4: Revised Co-Design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Normalized GraphSAGE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Revised Implementation: </a:t>
            </a:r>
            <a:r>
              <a:rPr>
                <a:solidFill>
                  <a:srgbClr val="E2E8F0"/>
                </a:solidFill>
              </a:rPr>
              <a:t>Co-designed a 2-layer GraphSAGE architecture with explicit W_self + W_neigh separation and type-offset feature vectors.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Result: </a:t>
            </a:r>
            <a:r>
              <a:rPr>
                <a:solidFill>
                  <a:srgbClr val="E2E8F0"/>
                </a:solidFill>
              </a:rPr>
              <a:t>Eliminated over-smoothing, achieved 0.0002 training loss, and produced clean embedding separation for candidate ranking.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10 — Lessons Learned &amp; Future 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8BDF8"/>
                </a:solidFill>
                <a:latin typeface="Calibri"/>
              </a:defRPr>
            </a:pPr>
            <a:r>
              <a:t>Key Takeaways from GNN Exploration and Strategic Enhancements for Human–AI Co-Design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💡 Core Lessons Learned in GNN Message Passing</a:t>
            </a:r>
          </a:p>
          <a:p>
            <a:pPr>
              <a:spcAft>
                <a:spcPts val="7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GNN + GraphRAG Complementarity: </a:t>
            </a:r>
            <a:r>
              <a:rPr>
                <a:solidFill>
                  <a:srgbClr val="E2E8F0"/>
                </a:solidFill>
              </a:rPr>
              <a:t>GNNs and Knowledge Graphs solve opposite halves of the problem: GNNs provide dense topological ranking, while Neo4j provides symbolic, auditable provenance.</a:t>
            </a:r>
          </a:p>
          <a:p>
            <a:pPr>
              <a:spcAft>
                <a:spcPts val="7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Message Passing Creates Context: </a:t>
            </a:r>
            <a:r>
              <a:rPr>
                <a:solidFill>
                  <a:srgbClr val="E2E8F0"/>
                </a:solidFill>
              </a:rPr>
              <a:t>A single node's raw attributes are insufficient. Message passing allows an order to absorb the delay behavior of its logistics corridor before retrieval.</a:t>
            </a:r>
          </a:p>
          <a:p>
            <a:pPr>
              <a:spcAft>
                <a:spcPts val="7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Importance of Heterogeneous Modeling: </a:t>
            </a:r>
            <a:r>
              <a:rPr>
                <a:solidFill>
                  <a:srgbClr val="E2E8F0"/>
                </a:solidFill>
              </a:rPr>
              <a:t>In supply chain graphs, relationship types matter. Treating a 'PLACED_ORDER' edge the same as 'EXPERIENCES_DELAY_ON' causes semantic noise without inductive weighting.</a:t>
            </a:r>
          </a:p>
          <a:p>
            <a:pPr>
              <a:spcAft>
                <a:spcPts val="7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AI as Co-Pilot, Not Autopilot: </a:t>
            </a:r>
            <a:r>
              <a:rPr>
                <a:solidFill>
                  <a:srgbClr val="E2E8F0"/>
                </a:solidFill>
              </a:rPr>
              <a:t>Agentic AI is brilliant at generating PyTorch boilerplate, but human evaluation was required to identify feature over-smoothing and tune loss objectives.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557784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🚀 Future Implementation Roadmap</a:t>
            </a:r>
          </a:p>
          <a:p>
            <a:pPr>
              <a:spcAft>
                <a:spcPts val="700"/>
              </a:spcAft>
              <a:defRPr sz="950"/>
            </a:pPr>
            <a:r>
              <a:rPr b="1">
                <a:solidFill>
                  <a:srgbClr val="38BDF8"/>
                </a:solidFill>
              </a:rPr>
              <a:t>• Heterogeneous GAT (Graph Attention Networks): </a:t>
            </a:r>
            <a:r>
              <a:rPr>
                <a:solidFill>
                  <a:srgbClr val="E2E8F0"/>
                </a:solidFill>
              </a:rPr>
              <a:t>Implement multi-head attention weights (α_uv) on edges so the model dynamically learns to pay more attention to congested corridors than seller locations.</a:t>
            </a:r>
          </a:p>
          <a:p>
            <a:pPr>
              <a:spcAft>
                <a:spcPts val="700"/>
              </a:spcAft>
              <a:defRPr sz="950"/>
            </a:pPr>
            <a:r>
              <a:rPr b="1">
                <a:solidFill>
                  <a:srgbClr val="38BDF8"/>
                </a:solidFill>
              </a:rPr>
              <a:t>• End-to-End Differentiable GraphRAG: </a:t>
            </a:r>
            <a:r>
              <a:rPr>
                <a:solidFill>
                  <a:srgbClr val="E2E8F0"/>
                </a:solidFill>
              </a:rPr>
              <a:t>Train the GNN retriever jointly with LLM generation feedback using reinforcement learning / contrastive query-subgraph loss.</a:t>
            </a:r>
          </a:p>
          <a:p>
            <a:pPr>
              <a:spcAft>
                <a:spcPts val="700"/>
              </a:spcAft>
              <a:defRPr sz="950"/>
            </a:pPr>
            <a:r>
              <a:rPr b="1">
                <a:solidFill>
                  <a:srgbClr val="38BDF8"/>
                </a:solidFill>
              </a:rPr>
              <a:t>• Scaling to Full Olist Dataset (100k Orders): </a:t>
            </a:r>
            <a:r>
              <a:rPr>
                <a:solidFill>
                  <a:srgbClr val="E2E8F0"/>
                </a:solidFill>
              </a:rPr>
              <a:t>Scale the GraphSAGE neighbor sampling pipeline to the full 100,000-order Olist SQLite database using mini-batch graph loaders.</a:t>
            </a:r>
          </a:p>
          <a:p>
            <a:pPr>
              <a:spcAft>
                <a:spcPts val="700"/>
              </a:spcAft>
              <a:defRPr sz="950"/>
            </a:pPr>
            <a:r>
              <a:rPr b="1">
                <a:solidFill>
                  <a:srgbClr val="38BDF8"/>
                </a:solidFill>
              </a:rPr>
              <a:t>• Interactive Streamlit GNN Visualizer: </a:t>
            </a:r>
            <a:r>
              <a:rPr>
                <a:solidFill>
                  <a:srgbClr val="E2E8F0"/>
                </a:solidFill>
              </a:rPr>
              <a:t>Embed real-time GNN embedding similarity sliders in the Streamlit UI so human supply chain operators can inspect top-ranked subgraphs interactively.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