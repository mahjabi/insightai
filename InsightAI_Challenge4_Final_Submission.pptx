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01168"/>
            <a:ext cx="3108960" cy="2560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CS 5542 • CHALLENGE 4 FINAL • SLIDE 1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Slide 1: Problem Formulation &amp; Dual Target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Mitigating Supply Chain Unpredictability via Dual-Perspective Intelligence (Operations vs. Customer)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246888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>
              <a:defRPr sz="1800" b="1">
                <a:solidFill>
                  <a:srgbClr val="FB7185"/>
                </a:solidFill>
                <a:latin typeface="Calibri"/>
              </a:defRPr>
            </a:pPr>
            <a:r>
              <a:t>44.07% Delays</a:t>
            </a:r>
          </a:p>
          <a:p>
            <a:pPr algn="ctr">
              <a:defRPr sz="1000">
                <a:solidFill>
                  <a:srgbClr val="E2E8F0"/>
                </a:solidFill>
                <a:latin typeface="Calibri"/>
              </a:defRPr>
            </a:pPr>
            <a:r>
              <a:t>Systemic Failure 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280160"/>
            <a:ext cx="246888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>
              <a:defRPr sz="1800" b="1">
                <a:solidFill>
                  <a:srgbClr val="FBBF24"/>
                </a:solidFill>
                <a:latin typeface="Calibri"/>
              </a:defRPr>
            </a:pPr>
            <a:r>
              <a:t>51.2% Interstate</a:t>
            </a:r>
          </a:p>
          <a:p>
            <a:pPr algn="ctr">
              <a:defRPr sz="1000">
                <a:solidFill>
                  <a:srgbClr val="E2E8F0"/>
                </a:solidFill>
                <a:latin typeface="Calibri"/>
              </a:defRPr>
            </a:pPr>
            <a:r>
              <a:t>SP -&gt; BA Corridor Risk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246888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t>2 User Personas</a:t>
            </a:r>
          </a:p>
          <a:p>
            <a:pPr algn="ctr">
              <a:defRPr sz="1000">
                <a:solidFill>
                  <a:srgbClr val="E2E8F0"/>
                </a:solidFill>
                <a:latin typeface="Calibri"/>
              </a:defRPr>
            </a:pPr>
            <a:r>
              <a:t>Operations &amp; Shoppers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280160"/>
            <a:ext cx="246888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>
              <a:defRPr sz="1800" b="1">
                <a:solidFill>
                  <a:srgbClr val="34D399"/>
                </a:solidFill>
                <a:latin typeface="Calibri"/>
              </a:defRPr>
            </a:pPr>
            <a:r>
              <a:t>4 Modalities</a:t>
            </a:r>
          </a:p>
          <a:p>
            <a:pPr algn="ctr">
              <a:defRPr sz="1000">
                <a:solidFill>
                  <a:srgbClr val="E2E8F0"/>
                </a:solidFill>
                <a:latin typeface="Calibri"/>
              </a:defRPr>
            </a:pPr>
            <a:r>
              <a:t>Text • Audio • Charts • Maps</a:t>
            </a:r>
          </a:p>
        </p:txBody>
      </p:sp>
      <p:pic>
        <p:nvPicPr>
          <p:cNvPr id="10" name="Picture 9" descr="c4_ai_data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40280"/>
            <a:ext cx="10698480" cy="61134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01168"/>
            <a:ext cx="3108960" cy="2560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CS 5542 • CHALLENGE 4 FINAL • SLIDE 2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Slide 2: Existing GraphRAG, Community Partitioning &amp; GNN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Grounding in 1,702 Olist Orders: 3 Operational Subgraphs, Physical Gateways &amp; 2-Hop GraphSAGE</a:t>
            </a:r>
          </a:p>
        </p:txBody>
      </p:sp>
      <p:pic>
        <p:nvPicPr>
          <p:cNvPr id="6" name="Picture 5" descr="subgraph_clustering_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7498079" cy="515492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0" y="1325880"/>
            <a:ext cx="3017520" cy="5120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GRAPH ARCHITECTURE HIGHLIGHTS</a:t>
            </a:r>
          </a:p>
          <a:p>
            <a:pPr>
              <a:spcBef>
                <a:spcPts val="800"/>
              </a:spcBef>
              <a:defRPr sz="1100" b="1">
                <a:solidFill>
                  <a:srgbClr val="34D399"/>
                </a:solidFill>
              </a:defRPr>
            </a:pPr>
            <a:r>
              <a:t>✓ Three Communities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C1 (Southeastern Interstate), C2 (Heavy Goods), C3 (Northeastern Feeder).</a:t>
            </a:r>
          </a:p>
          <a:p>
            <a:pPr>
              <a:spcBef>
                <a:spcPts val="800"/>
              </a:spcBef>
              <a:defRPr sz="1100" b="1">
                <a:solidFill>
                  <a:srgbClr val="34D399"/>
                </a:solidFill>
              </a:defRPr>
            </a:pPr>
            <a:r>
              <a:t>✓ Physical Gateways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Connected via HUB_SP_CENTRAL and LINEHAUL_GATEWAY (verified logistics entities).</a:t>
            </a:r>
          </a:p>
          <a:p>
            <a:pPr>
              <a:spcBef>
                <a:spcPts val="800"/>
              </a:spcBef>
              <a:defRPr sz="1100" b="1">
                <a:solidFill>
                  <a:srgbClr val="34D399"/>
                </a:solidFill>
              </a:defRPr>
            </a:pPr>
            <a:r>
              <a:t>✓ AI Layer Separated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ACT_REROUTE isolated in green AI layer per professor feedback.</a:t>
            </a:r>
          </a:p>
          <a:p>
            <a:pPr>
              <a:spcBef>
                <a:spcPts val="800"/>
              </a:spcBef>
              <a:defRPr sz="1100" b="1">
                <a:solidFill>
                  <a:srgbClr val="34D399"/>
                </a:solidFill>
              </a:defRPr>
            </a:pPr>
            <a:r>
              <a:t>✓ Optional GNN Value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2-layer GraphSAGE raises delayed order ORD_50090 risk from 0.529 -&gt; 0.991 (+87.3%).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01168"/>
            <a:ext cx="3108960" cy="2560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CS 5542 • CHALLENGE 4 FINAL • SLIDE 3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Slide 3: Systematic Evaluation, Benchmarking &amp; Ablation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Comparing Traditional Vector RAG vs. Whole-Graph GraphRAG vs. Dynamic Community GraphRAG</a:t>
            </a:r>
          </a:p>
        </p:txBody>
      </p:sp>
      <p:pic>
        <p:nvPicPr>
          <p:cNvPr id="6" name="Picture 5" descr="c4_ablation_and_evaluation_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10698480" cy="61096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01168"/>
            <a:ext cx="3108960" cy="2560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CS 5542 • CHALLENGE 4 FINAL • SLIDE 4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Slide 4: Empirical Findings &amp; Evidence-Based Justification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Answering: What did we discover? Why do empirical results justify our technical choices?</a:t>
            </a:r>
          </a:p>
        </p:txBody>
      </p:sp>
      <p:pic>
        <p:nvPicPr>
          <p:cNvPr id="6" name="Picture 5" descr="c4_ai_analytics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7132320" cy="407561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0" y="1325880"/>
            <a:ext cx="3383280" cy="1143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182880"/>
          <a:lstStyle/>
          <a:p>
            <a:pPr algn="ctr">
              <a:defRPr sz="1600" b="1">
                <a:solidFill>
                  <a:srgbClr val="FBBF24"/>
                </a:solidFill>
              </a:defRPr>
            </a:pPr>
            <a:r>
              <a:t>51.2% vs 8.6%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State Disparity Finding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Justifies separating C1 Interstate from C3 Feeder network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606039"/>
            <a:ext cx="3383280" cy="1143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182880"/>
          <a:lstStyle/>
          <a:p>
            <a:pPr algn="ctr">
              <a:defRPr sz="1600" b="1">
                <a:solidFill>
                  <a:srgbClr val="FB7185"/>
                </a:solidFill>
              </a:defRPr>
            </a:pPr>
            <a:r>
              <a:t>28.4% Vibration Risk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Heavy Freight Hazard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Justifies dedicated C2 Subgraph for fragile furniture &gt;15kg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886200"/>
            <a:ext cx="3383280" cy="1143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182880"/>
          <a:lstStyle/>
          <a:p>
            <a:pPr algn="ctr">
              <a:defRPr sz="1600" b="1">
                <a:solidFill>
                  <a:srgbClr val="A78BFA"/>
                </a:solidFill>
              </a:defRPr>
            </a:pPr>
            <a:r>
              <a:t>-0.42 Corr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Delivery vs Review Score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Delayed orders drop to 1.6★; justifies pre-purchase prediction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5166360"/>
            <a:ext cx="3383280" cy="1143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182880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75% Token Savings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Dynamic Subgraph Economy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Justifies intent-driven routing over static whole-graph prompts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01168"/>
            <a:ext cx="3108960" cy="2560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CS 5542 • CHALLENGE 4 FINAL • SLIDE 5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Slide 5: Innovative GenAI Multimodal Presentation (Task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Customer AI Shopping Advisor (Voice Briefing + Subgraph C2 Retrieval + Product Substitution)</a:t>
            </a:r>
          </a:p>
        </p:txBody>
      </p:sp>
      <p:pic>
        <p:nvPicPr>
          <p:cNvPr id="6" name="Picture 5" descr="c4_customer_genai_voice_recommen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10698480" cy="60810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01168"/>
            <a:ext cx="3108960" cy="2560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CS 5542 • CHALLENGE 4 FINAL • SLIDE 6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Slide 6: Evidence-Driven Human-AI Application Design (Task 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Deploying Human-AI Co-Design across 4 Interactive Perspectives in Streamlit Cockpit</a:t>
            </a:r>
          </a:p>
        </p:txBody>
      </p:sp>
      <p:pic>
        <p:nvPicPr>
          <p:cNvPr id="6" name="Picture 5" descr="c4_application_wire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10698480" cy="61134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01168"/>
            <a:ext cx="3108960" cy="2560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CS 5542 • CHALLENGE 4 FINAL • SLIDE 7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Slide 7: Explainability, Trust &amp; Human Feedback Mechanisms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Verifiable Cypher Proofs, Database Provenance Tracking, and Human Auditor Control Loops</a:t>
            </a:r>
          </a:p>
        </p:txBody>
      </p:sp>
      <p:pic>
        <p:nvPicPr>
          <p:cNvPr id="6" name="Picture 5" descr="c4_human_vs_ai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7498079" cy="428461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0" y="1325880"/>
            <a:ext cx="3017520" cy="5120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TRUST &amp; VERIFICATION STACK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🛡️ Live Cypher Inspector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Every LLM response displays the exact Cypher traversal executed in Neo4j.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🛡️ Database Provenance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All claims tied to order_id, review_id, and seller_id database keys.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🛡️ Auditor Verdict Control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Human operations auditor can confirm, flag inconclusive, or reject remedies.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</a:defRPr>
            </a:pPr>
            <a:r>
              <a:t>🛡️ Listen Button in Chat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Center GraphRAG panel features interactive TTS listen button for delay warnings.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201168"/>
            <a:ext cx="3108960" cy="2560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CS 5542 • CHALLENGE 4 FINAL • SLIDE 8 OF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Slide 8: Innovation, Significance, Limitations &amp; Real-World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3268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Synthesizing Research Significance, Technical Constraints, and Next Steps for 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1. CORE INNOVATION &amp; RESEARCH SIGNIFICANCE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</a:defRPr>
            </a:pPr>
            <a:r>
              <a:t>• Dynamic Community GraphRAG bridges the gap between static graph embeddings and conversational LLM reasoning.</a:t>
            </a:r>
            <a:br/>
            <a:r>
              <a:t>• Cuts prompt context tokens by 75% while achieving 98.2% retrieval faithfulness and zero phantom hallucinations.</a:t>
            </a:r>
            <a:br/>
            <a:r>
              <a:t>• Empowers customers with pre-purchase risk foresight and spoken voice guidance, preventing post-purchase churn.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1069848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/>
          <a:lstStyle/>
          <a:p>
            <a:pPr algn="ctr">
              <a:defRPr sz="1300" b="1">
                <a:solidFill>
                  <a:srgbClr val="FB7185"/>
                </a:solidFill>
              </a:defRPr>
            </a:pPr>
            <a:r>
              <a:t>2. IDENTIFIED TECHNICAL LIMITATIONS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</a:defRPr>
            </a:pPr>
            <a:r>
              <a:t>• Community partitioning was empirically mapped from logistics semantics; live GDS Leiden execution is scheduled for production.</a:t>
            </a:r>
            <a:br/>
            <a:r>
              <a:t>• Free-tier Neo4j AuraDB memory limits in-memory graph projections; requires scheduled offline feature pre-computation.</a:t>
            </a:r>
            <a:br/>
            <a:r>
              <a:t>• Local neural TTS engine relies on client-side audio rendering; future release will integrate cloud streaming TTS API.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09160"/>
            <a:ext cx="1069848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3. REAL-WORLD BUSINESS IMPACT &amp; DEPLOYMENT NEXT STEPS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</a:defRPr>
            </a:pPr>
            <a:r>
              <a:t>• Business Impact: Prevents costly transit damage (-95.8% damage hazard) and saves buyers $18.50 per order via local seller substitution.</a:t>
            </a:r>
            <a:br/>
            <a:r>
              <a:t>• Next Step 1: Run live Neo4j Graph Data Science (GDS) Leiden algorithm directly on AuraDB with Louvain comparison.</a:t>
            </a:r>
            <a:br/>
            <a:r>
              <a:t>• Next Step 2: Deploy Unified Streamlit v4.0 Cockpit with live audio streaming and execute formal human user evaluation studies.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