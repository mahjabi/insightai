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Calibri"/>
              </a:defRPr>
            </a:pPr>
            <a:r>
              <a:t>Slide 1 — Project Overview: Existing GraphRAG &amp; Human Design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94944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8BDF8"/>
                </a:solidFill>
                <a:latin typeface="Calibri"/>
              </a:defRPr>
            </a:pPr>
            <a:r>
              <a:t>CS 5542 Challenge 4: Extending InsightAI Supply Chain Intelligence to Community-Aware &amp; Multimodal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3474720" cy="4297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8872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🎯 Existing GraphRAG Foundation</a:t>
            </a:r>
          </a:p>
          <a:p>
            <a:pPr>
              <a:spcAft>
                <a:spcPts val="400"/>
              </a:spcAft>
              <a:defRPr sz="950"/>
            </a:pPr>
            <a:r>
              <a:rPr b="1">
                <a:solidFill>
                  <a:srgbClr val="FBBF24"/>
                </a:solidFill>
              </a:rPr>
              <a:t>• Domain &amp; Dataset: </a:t>
            </a:r>
            <a:r>
              <a:rPr>
                <a:solidFill>
                  <a:srgbClr val="E2E8F0"/>
                </a:solidFill>
              </a:rPr>
              <a:t>InsightAI diagnoses supply chain bottlenecks, delivery delays, and review dips across Brazilian e-commerce (Olist dataset).</a:t>
            </a:r>
          </a:p>
          <a:p>
            <a:pPr>
              <a:spcAft>
                <a:spcPts val="400"/>
              </a:spcAft>
              <a:defRPr sz="950"/>
            </a:pPr>
            <a:r>
              <a:rPr b="1">
                <a:solidFill>
                  <a:srgbClr val="FBBF24"/>
                </a:solidFill>
              </a:rPr>
              <a:t>• Neo4j Knowledge Graph: </a:t>
            </a:r>
            <a:r>
              <a:rPr>
                <a:solidFill>
                  <a:srgbClr val="E2E8F0"/>
                </a:solidFill>
              </a:rPr>
              <a:t>Live AuraDB instance with 37 nodes, 44 directed relationships, and 8 entity types (Order, Customer, Seller, Product, Route, Carrier, Review, Remedy).</a:t>
            </a:r>
          </a:p>
          <a:p>
            <a:pPr>
              <a:spcAft>
                <a:spcPts val="400"/>
              </a:spcAft>
              <a:defRPr sz="950"/>
            </a:pPr>
            <a:r>
              <a:rPr b="1">
                <a:solidFill>
                  <a:srgbClr val="FBBF24"/>
                </a:solidFill>
              </a:rPr>
              <a:t>• GNN Enhancement: </a:t>
            </a:r>
            <a:r>
              <a:rPr>
                <a:solidFill>
                  <a:srgbClr val="E2E8F0"/>
                </a:solidFill>
              </a:rPr>
              <a:t>2-layer PyTorch GraphSAGE pipeline with message passing that updates order risk representations (ORD_50090 risk boosted 0.529 → 0.991).</a:t>
            </a:r>
          </a:p>
          <a:p>
            <a:pPr>
              <a:spcAft>
                <a:spcPts val="400"/>
              </a:spcAft>
              <a:defRPr sz="950"/>
            </a:pPr>
            <a:r>
              <a:rPr b="1">
                <a:solidFill>
                  <a:srgbClr val="FBBF24"/>
                </a:solidFill>
              </a:rPr>
              <a:t>• Current Retrieval: </a:t>
            </a:r>
            <a:r>
              <a:rPr>
                <a:solidFill>
                  <a:srgbClr val="E2E8F0"/>
                </a:solidFill>
              </a:rPr>
              <a:t>Symbolic Cypher queries retrieve 1-to-3 hop local neighborhoods for LLM context grounding.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097280"/>
            <a:ext cx="3474720" cy="4297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118872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4D399"/>
                </a:solidFill>
              </a:defRPr>
            </a:pPr>
            <a:r>
              <a:t>👥 Target Users &amp; Critical Needs</a:t>
            </a:r>
          </a:p>
          <a:p>
            <a:pPr>
              <a:spcAft>
                <a:spcPts val="400"/>
              </a:spcAft>
              <a:defRPr sz="950"/>
            </a:pPr>
            <a:r>
              <a:rPr b="1">
                <a:solidFill>
                  <a:srgbClr val="A78BFA"/>
                </a:solidFill>
              </a:rPr>
              <a:t>• Logistics Dispatchers &amp; Ops: </a:t>
            </a:r>
            <a:r>
              <a:rPr>
                <a:solidFill>
                  <a:srgbClr val="E2E8F0"/>
                </a:solidFill>
              </a:rPr>
              <a:t>Need to identify regional transit choke points, reroute delayed orders before SLA breach, and resolve carrier capacity constraints.</a:t>
            </a:r>
          </a:p>
          <a:p>
            <a:pPr>
              <a:spcAft>
                <a:spcPts val="400"/>
              </a:spcAft>
              <a:defRPr sz="950"/>
            </a:pPr>
            <a:r>
              <a:rPr b="1">
                <a:solidFill>
                  <a:srgbClr val="A78BFA"/>
                </a:solidFill>
              </a:rPr>
              <a:t>• Merchant Success Managers: </a:t>
            </a:r>
            <a:r>
              <a:rPr>
                <a:solidFill>
                  <a:srgbClr val="E2E8F0"/>
                </a:solidFill>
              </a:rPr>
              <a:t>Need to isolate seller dispatch delays vs carrier transit bottlenecks to enforce fair vendor SLAs and dispute chargebacks.</a:t>
            </a:r>
          </a:p>
          <a:p>
            <a:pPr>
              <a:spcAft>
                <a:spcPts val="400"/>
              </a:spcAft>
              <a:defRPr sz="950"/>
            </a:pPr>
            <a:r>
              <a:rPr b="1">
                <a:solidFill>
                  <a:srgbClr val="A78BFA"/>
                </a:solidFill>
              </a:rPr>
              <a:t>• E-Commerce Executives: </a:t>
            </a:r>
            <a:r>
              <a:rPr>
                <a:solidFill>
                  <a:srgbClr val="E2E8F0"/>
                </a:solidFill>
              </a:rPr>
              <a:t>Need macro-level visibility into shipping corridor performance, contract compliance, and customer satisfaction risk across Brazilian states.</a:t>
            </a:r>
          </a:p>
          <a:p>
            <a:pPr>
              <a:spcAft>
                <a:spcPts val="400"/>
              </a:spcAft>
              <a:defRPr sz="950"/>
            </a:pPr>
            <a:r>
              <a:rPr b="1">
                <a:solidFill>
                  <a:srgbClr val="A78BFA"/>
                </a:solidFill>
              </a:rPr>
              <a:t>• Customer Escalation Leads: </a:t>
            </a:r>
            <a:r>
              <a:rPr>
                <a:solidFill>
                  <a:srgbClr val="E2E8F0"/>
                </a:solidFill>
              </a:rPr>
              <a:t>Need transparent multi-hop causal explanations to reassure high-value buyers whose packages are stalled in transit.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097280"/>
            <a:ext cx="3566160" cy="4297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79" y="118872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B7185"/>
                </a:solidFill>
              </a:defRPr>
            </a:pPr>
            <a:r>
              <a:t>⚠️ Current GraphRAG Limitations</a:t>
            </a:r>
          </a:p>
          <a:p>
            <a:pPr>
              <a:spcAft>
                <a:spcPts val="400"/>
              </a:spcAft>
              <a:defRPr sz="950"/>
            </a:pPr>
            <a:r>
              <a:rPr b="1">
                <a:solidFill>
                  <a:srgbClr val="FB7185"/>
                </a:solidFill>
              </a:rPr>
              <a:t>• Lack of Global/Macro Synthesis: </a:t>
            </a:r>
            <a:r>
              <a:rPr>
                <a:solidFill>
                  <a:srgbClr val="E2E8F0"/>
                </a:solidFill>
              </a:rPr>
              <a:t>Current GraphRAG operates strictly at the local entity level (1-to-3 hops). It cannot answer high-level queries like: 'Which freight corridors have systemic delay patterns?'</a:t>
            </a:r>
          </a:p>
          <a:p>
            <a:pPr>
              <a:spcAft>
                <a:spcPts val="400"/>
              </a:spcAft>
              <a:defRPr sz="950"/>
            </a:pPr>
            <a:r>
              <a:rPr b="1">
                <a:solidFill>
                  <a:srgbClr val="FB7185"/>
                </a:solidFill>
              </a:rPr>
              <a:t>• Text-Only Output Modality: </a:t>
            </a:r>
            <a:r>
              <a:rPr>
                <a:solidFill>
                  <a:srgbClr val="E2E8F0"/>
                </a:solidFill>
              </a:rPr>
              <a:t>Outputs raw text and tabular Cypher data. Dispatchers in fast-paced logistics hubs cannot parse text essays during delivery crises.</a:t>
            </a:r>
          </a:p>
          <a:p>
            <a:pPr>
              <a:spcAft>
                <a:spcPts val="400"/>
              </a:spcAft>
              <a:defRPr sz="950"/>
            </a:pPr>
            <a:r>
              <a:rPr b="1">
                <a:solidFill>
                  <a:srgbClr val="FB7185"/>
                </a:solidFill>
              </a:rPr>
              <a:t>• No Community Structure: </a:t>
            </a:r>
            <a:r>
              <a:rPr>
                <a:solidFill>
                  <a:srgbClr val="E2E8F0"/>
                </a:solidFill>
              </a:rPr>
              <a:t>Treats all nodes uniformly; fails to detect tightly coupled clusters of regional routes, shared carriers, or fragile product ecosystems.</a:t>
            </a:r>
          </a:p>
          <a:p>
            <a:pPr>
              <a:spcAft>
                <a:spcPts val="400"/>
              </a:spcAft>
              <a:defRPr sz="950"/>
            </a:pPr>
            <a:r>
              <a:rPr b="1">
                <a:solidFill>
                  <a:srgbClr val="FB7185"/>
                </a:solidFill>
              </a:rPr>
              <a:t>• Reactive Workflow: </a:t>
            </a:r>
            <a:r>
              <a:rPr>
                <a:solidFill>
                  <a:srgbClr val="E2E8F0"/>
                </a:solidFill>
              </a:rPr>
              <a:t>Waits for user queries rather than proactively alerting on community-level risk surges.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532120"/>
            <a:ext cx="11064240" cy="100584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596128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🚀 Challenge 4 Human Design Paradigm Shift: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Human Design (Community Discovery + Multimodal Generation + User-Centered Cockpit) ➔ AI Design ➔ Human-AI Co-Design</a:t>
            </a:r>
            <a:br/>
            <a:r>
              <a:t>Key Goal: Move beyond isolated node retrieval to discover systemic knowledge communities, generate interactive visual intelligence, and build an actionable supply chain decision cockpit.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Calibri"/>
              </a:defRPr>
            </a:pPr>
            <a:r>
              <a:t>Slide 2 — Community Design: Defining Communities &amp; Conceptual 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94944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8BDF8"/>
                </a:solidFill>
                <a:latin typeface="Calibri"/>
              </a:defRPr>
            </a:pPr>
            <a:r>
              <a:t>Part 1.1: Domain-Specific Community Definitions and Conceptual Knowledge Graph Partitioning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5120640" cy="5394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88720"/>
            <a:ext cx="48463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🌐 What is a Community in InsightAI?</a:t>
            </a:r>
          </a:p>
          <a:p>
            <a:pPr>
              <a:spcAft>
                <a:spcPts val="600"/>
              </a:spcAft>
              <a:defRPr sz="950">
                <a:solidFill>
                  <a:srgbClr val="E2E8F0"/>
                </a:solidFill>
              </a:defRPr>
            </a:pPr>
            <a:r>
              <a:t>In supply chain analytics, a community is a tightly coupled operational cluster of sellers, transit corridors, carriers, customer hubs, and product categories that share systemic delay propagation, common infrastructure dependencies, or specialized logistics handling requirements.</a:t>
            </a:r>
          </a:p>
          <a:p>
            <a:pPr>
              <a:defRPr sz="1050" b="1">
                <a:solidFill>
                  <a:srgbClr val="FBBF24"/>
                </a:solidFill>
              </a:defRPr>
            </a:pPr>
            <a:r>
              <a:t>Community C1: Regional Interstate Logistics Corridor (SP → RJ / BA)</a:t>
            </a:r>
          </a:p>
          <a:p>
            <a:pPr>
              <a:spcAft>
                <a:spcPts val="400"/>
              </a:spcAft>
              <a:defRPr sz="900">
                <a:solidFill>
                  <a:srgbClr val="E2E8F0"/>
                </a:solidFill>
              </a:defRPr>
            </a:pPr>
            <a:r>
              <a:t>• Focus: High-density interstate shipping routes connecting São Paulo manufacturers to Rio de Janeiro/Bahia customer clusters via Correios/Sedex.</a:t>
            </a:r>
            <a:br/>
            <a:r>
              <a:t>• Characteristics: High transit volume, vulnerability to highway bottlenecks (BR-116), shared carrier sorting hubs (Campinas, SP Central), and correlated interstate delay cascades (e.g. ORD_50090).</a:t>
            </a:r>
          </a:p>
          <a:p>
            <a:pPr>
              <a:defRPr sz="1050" b="1">
                <a:solidFill>
                  <a:srgbClr val="FBBF24"/>
                </a:solidFill>
              </a:defRPr>
            </a:pPr>
            <a:r>
              <a:t>Community C2: Heavy &amp; Fragile Goods Fulfillment Ecosystem</a:t>
            </a:r>
          </a:p>
          <a:p>
            <a:pPr>
              <a:spcAft>
                <a:spcPts val="400"/>
              </a:spcAft>
              <a:defRPr sz="900">
                <a:solidFill>
                  <a:srgbClr val="E2E8F0"/>
                </a:solidFill>
              </a:defRPr>
            </a:pPr>
            <a:r>
              <a:t>• Focus: Manufacturers of bulky or fragile items (Office Furniture, Large Electronics, Auto Parts) shipping to residential customers.</a:t>
            </a:r>
            <a:br/>
            <a:r>
              <a:t>• Characteristics: High package mass/volume (&gt;15kg), specialized pallet freight carriers (Loggi Freight), elevated freight-to-price ratios, and distinct packaging damage/negative review patterns.</a:t>
            </a:r>
          </a:p>
          <a:p>
            <a:pPr>
              <a:defRPr sz="1050" b="1">
                <a:solidFill>
                  <a:srgbClr val="FBBF24"/>
                </a:solidFill>
              </a:defRPr>
            </a:pPr>
            <a:r>
              <a:t>The Role of Inter-Community Bridge Nodes:</a:t>
            </a:r>
          </a:p>
          <a:p>
            <a:pPr>
              <a:spcAft>
                <a:spcPts val="400"/>
              </a:spcAft>
              <a:defRPr sz="900">
                <a:solidFill>
                  <a:srgbClr val="E2E8F0"/>
                </a:solidFill>
              </a:defRPr>
            </a:pPr>
            <a:r>
              <a:t>• Nodes like HUB_SP_CENTRAL act as cross-dock sorting gateways bridging parcel flow with heavy freight lines. Detecting bridges prevents cross-community risk blindspots.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0" y="1097280"/>
            <a:ext cx="5760720" cy="53949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4_conceptual_community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188720"/>
            <a:ext cx="5577840" cy="39319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0" y="5166360"/>
            <a:ext cx="55778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4D399"/>
                </a:solidFill>
              </a:defRPr>
            </a:pPr>
            <a:r>
              <a:t>💡 How Communities Transform GraphRAG Capabilities:</a:t>
            </a:r>
          </a:p>
          <a:p>
            <a:pPr>
              <a:defRPr sz="850"/>
            </a:pPr>
            <a:r>
              <a:rPr b="1">
                <a:solidFill>
                  <a:srgbClr val="FBBF24"/>
                </a:solidFill>
              </a:rPr>
              <a:t>• Macro-Level Synthesis: </a:t>
            </a:r>
            <a:r>
              <a:rPr>
                <a:solidFill>
                  <a:srgbClr val="E2E8F0"/>
                </a:solidFill>
              </a:rPr>
              <a:t>Enables Microsoft GraphRAG-style hierarchical pre-summaries, answering broad queries without scanning thousands of raw order nodes.</a:t>
            </a:r>
          </a:p>
          <a:p>
            <a:pPr>
              <a:defRPr sz="850"/>
            </a:pPr>
            <a:r>
              <a:rPr b="1">
                <a:solidFill>
                  <a:srgbClr val="FBBF24"/>
                </a:solidFill>
              </a:rPr>
              <a:t>• Pruned &amp; Fast Retrieval: </a:t>
            </a:r>
            <a:r>
              <a:rPr>
                <a:solidFill>
                  <a:srgbClr val="E2E8F0"/>
                </a:solidFill>
              </a:rPr>
              <a:t>Retrieval directly targets the relevant community index instead of blindly expanding all graph neighbors.</a:t>
            </a:r>
          </a:p>
          <a:p>
            <a:pPr>
              <a:defRPr sz="850"/>
            </a:pPr>
            <a:r>
              <a:rPr b="1">
                <a:solidFill>
                  <a:srgbClr val="FBBF24"/>
                </a:solidFill>
              </a:rPr>
              <a:t>• Correlated Risk Propagation: </a:t>
            </a:r>
            <a:r>
              <a:rPr>
                <a:solidFill>
                  <a:srgbClr val="E2E8F0"/>
                </a:solidFill>
              </a:rPr>
              <a:t>GNN risk scores propagate within community boundaries to forecast collateral delays across affiliated orders.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Calibri"/>
              </a:defRPr>
            </a:pPr>
            <a:r>
              <a:t>Slide 3 — Community Detection: Features, Algorithm &amp; GraphRAG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94944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8BDF8"/>
                </a:solidFill>
                <a:latin typeface="Calibri"/>
              </a:defRPr>
            </a:pPr>
            <a:r>
              <a:t>Parts 1.2 &amp; 1.3: Feature Selection, Algorithmic Choice (Leiden), and Expected Retrieval Enhancements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3474720" cy="5394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88720"/>
            <a:ext cx="32004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38BDF8"/>
                </a:solidFill>
              </a:defRPr>
            </a:pPr>
            <a:r>
              <a:t>🔑 1.2 Community Detection Features</a:t>
            </a:r>
          </a:p>
          <a:p>
            <a:pPr>
              <a:defRPr sz="950" b="1">
                <a:solidFill>
                  <a:srgbClr val="FBBF24"/>
                </a:solidFill>
              </a:defRPr>
            </a:pPr>
            <a:r>
              <a:t>1. Graph Structural Connectivity &amp; Multi-Hop Path Co-occurrence</a:t>
            </a:r>
          </a:p>
          <a:p>
            <a:pPr>
              <a:spcAft>
                <a:spcPts val="400"/>
              </a:spcAft>
              <a:defRPr sz="850">
                <a:solidFill>
                  <a:srgbClr val="E2E8F0"/>
                </a:solidFill>
              </a:defRPr>
            </a:pPr>
            <a:r>
              <a:t>• Captures shared transit corridors, common sorting hubs, and bipartite seller-carrier-customer pathways.</a:t>
            </a:r>
            <a:br/>
            <a:r>
              <a:t>• Why it matters: Entities sharing the same logistics backbone face correlated infrastructure risks.</a:t>
            </a:r>
          </a:p>
          <a:p>
            <a:pPr>
              <a:defRPr sz="950" b="1">
                <a:solidFill>
                  <a:srgbClr val="FBBF24"/>
                </a:solidFill>
              </a:defRPr>
            </a:pPr>
            <a:r>
              <a:t>2. Edge Delay Delta &amp; Geographic Boundaries</a:t>
            </a:r>
          </a:p>
          <a:p>
            <a:pPr>
              <a:spcAft>
                <a:spcPts val="400"/>
              </a:spcAft>
              <a:defRPr sz="850">
                <a:solidFill>
                  <a:srgbClr val="E2E8F0"/>
                </a:solidFill>
              </a:defRPr>
            </a:pPr>
            <a:r>
              <a:t>• Features: Transit delay days (actual - estimated), freight-to-price ratio, and interstate crossing flags (seller_state != customer_state).</a:t>
            </a:r>
            <a:br/>
            <a:r>
              <a:t>• Why it matters: High delay variance naturally concentrates along specific interstate highway corridors.</a:t>
            </a:r>
          </a:p>
          <a:p>
            <a:pPr>
              <a:defRPr sz="950" b="1">
                <a:solidFill>
                  <a:srgbClr val="FBBF24"/>
                </a:solidFill>
              </a:defRPr>
            </a:pPr>
            <a:r>
              <a:t>3. Product Physical Attributes &amp; Categories</a:t>
            </a:r>
          </a:p>
          <a:p>
            <a:pPr>
              <a:spcAft>
                <a:spcPts val="400"/>
              </a:spcAft>
              <a:defRPr sz="850">
                <a:solidFill>
                  <a:srgbClr val="E2E8F0"/>
                </a:solidFill>
              </a:defRPr>
            </a:pPr>
            <a:r>
              <a:t>• Features: Package mass (product_weight_g), volume (cm³), and fragile product category classifications.</a:t>
            </a:r>
            <a:br/>
            <a:r>
              <a:t>• Why it matters: Bulky items share specialized freight carriers and handling constraints, forming a distinct ecosystem.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097280"/>
            <a:ext cx="3566160" cy="5394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1188720"/>
            <a:ext cx="3291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34D399"/>
                </a:solidFill>
              </a:defRPr>
            </a:pPr>
            <a:r>
              <a:t>⚙️ 1.3 Selected Approach: Hierarchical Leiden</a:t>
            </a:r>
          </a:p>
          <a:p>
            <a:pPr>
              <a:defRPr sz="950" b="1">
                <a:solidFill>
                  <a:srgbClr val="34D399"/>
                </a:solidFill>
              </a:defRPr>
            </a:pPr>
            <a:r>
              <a:t>Why Hierarchical Leiden Algorithm?</a:t>
            </a:r>
          </a:p>
          <a:p>
            <a:pPr>
              <a:spcAft>
                <a:spcPts val="400"/>
              </a:spcAft>
              <a:defRPr sz="850">
                <a:solidFill>
                  <a:srgbClr val="E2E8F0"/>
                </a:solidFill>
              </a:defRPr>
            </a:pPr>
            <a:r>
              <a:t>• Modularity Maximization: Maximizes intra-community edge density relative to a null model while guaranteeing internally connected communities (fixing Louvain's disconnected node flaws).</a:t>
            </a:r>
            <a:br/>
            <a:r>
              <a:t>• Multi-Scale Resolution (γ): Tunable resolution parameter allows detecting both macro-regional corridors and granular hub clusters.</a:t>
            </a:r>
          </a:p>
          <a:p>
            <a:pPr>
              <a:defRPr sz="950" b="1">
                <a:solidFill>
                  <a:srgbClr val="34D399"/>
                </a:solidFill>
              </a:defRPr>
            </a:pPr>
            <a:r>
              <a:t>Graph Information Leveraged:</a:t>
            </a:r>
          </a:p>
          <a:p>
            <a:pPr>
              <a:spcAft>
                <a:spcPts val="400"/>
              </a:spcAft>
              <a:defRPr sz="850">
                <a:solidFill>
                  <a:srgbClr val="E2E8F0"/>
                </a:solidFill>
              </a:defRPr>
            </a:pPr>
            <a:r>
              <a:t>• Multi-relational weighted adjacency matrix combining topology (SHIPPED_VIA, TRANSITS) with edge weights (delay days, freight value).</a:t>
            </a:r>
            <a:br/>
            <a:r>
              <a:t>• Node feature vectors (geographic state, carrier type, product weight).</a:t>
            </a:r>
          </a:p>
          <a:p>
            <a:pPr>
              <a:defRPr sz="950" b="1">
                <a:solidFill>
                  <a:srgbClr val="34D399"/>
                </a:solidFill>
              </a:defRPr>
            </a:pPr>
            <a:r>
              <a:t>Hierarchy Levels for Supply Chain:</a:t>
            </a:r>
          </a:p>
          <a:p>
            <a:pPr>
              <a:spcAft>
                <a:spcPts val="400"/>
              </a:spcAft>
              <a:defRPr sz="850">
                <a:solidFill>
                  <a:srgbClr val="E2E8F0"/>
                </a:solidFill>
              </a:defRPr>
            </a:pPr>
            <a:r>
              <a:t>• Level 0: Macro Brazilian Regions (Southeastern, Southern, Northeast).</a:t>
            </a:r>
            <a:br/>
            <a:r>
              <a:t>• Level 1: Interstate Shipping Corridors (SP → RJ, PR → SP).</a:t>
            </a:r>
            <a:br/>
            <a:r>
              <a:t>• Level 2: Local Sorting Hubs &amp; Micro-Seller Clusters.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097280"/>
            <a:ext cx="3474720" cy="5394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188720"/>
            <a:ext cx="32004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A78BFA"/>
                </a:solidFill>
              </a:defRPr>
            </a:pPr>
            <a:r>
              <a:t>📈 Expected Systemic Benefits</a:t>
            </a:r>
          </a:p>
          <a:p>
            <a:pPr>
              <a:defRPr sz="950" b="1">
                <a:solidFill>
                  <a:srgbClr val="A78BFA"/>
                </a:solidFill>
              </a:defRPr>
            </a:pPr>
            <a:r>
              <a:t>1. Pre-Computed Hierarchical Community Summaries</a:t>
            </a:r>
          </a:p>
          <a:p>
            <a:pPr>
              <a:spcAft>
                <a:spcPts val="400"/>
              </a:spcAft>
              <a:defRPr sz="850">
                <a:solidFill>
                  <a:srgbClr val="E2E8F0"/>
                </a:solidFill>
              </a:defRPr>
            </a:pPr>
            <a:r>
              <a:t>• LLM pre-summarizes each Leiden cluster (e.g. 'C1 Overview: Campinas bottleneck, 34.2% delay risk').</a:t>
            </a:r>
            <a:br/>
            <a:r>
              <a:t>• Allows answering global questions instantly with 90% fewer LLM context tokens.</a:t>
            </a:r>
          </a:p>
          <a:p>
            <a:pPr>
              <a:defRPr sz="950" b="1">
                <a:solidFill>
                  <a:srgbClr val="A78BFA"/>
                </a:solidFill>
              </a:defRPr>
            </a:pPr>
            <a:r>
              <a:t>2. Targeted Subgraph Indexing &amp; Pruning</a:t>
            </a:r>
          </a:p>
          <a:p>
            <a:pPr>
              <a:spcAft>
                <a:spcPts val="400"/>
              </a:spcAft>
              <a:defRPr sz="850">
                <a:solidFill>
                  <a:srgbClr val="E2E8F0"/>
                </a:solidFill>
              </a:defRPr>
            </a:pPr>
            <a:r>
              <a:t>• Query routing: Natural language questions are mapped to relevant communities first, reducing search space from entire graph to isolated subgraphs.</a:t>
            </a:r>
            <a:br/>
            <a:r>
              <a:t>• Eliminates irrelevant cross-state hops during retrieval.</a:t>
            </a:r>
          </a:p>
          <a:p>
            <a:pPr>
              <a:defRPr sz="950" b="1">
                <a:solidFill>
                  <a:srgbClr val="A78BFA"/>
                </a:solidFill>
              </a:defRPr>
            </a:pPr>
            <a:r>
              <a:t>3. Correlated Risk &amp; Failure Cascades</a:t>
            </a:r>
          </a:p>
          <a:p>
            <a:pPr>
              <a:spcAft>
                <a:spcPts val="400"/>
              </a:spcAft>
              <a:defRPr sz="850">
                <a:solidFill>
                  <a:srgbClr val="E2E8F0"/>
                </a:solidFill>
              </a:defRPr>
            </a:pPr>
            <a:r>
              <a:t>• If GNN predicts a critical risk (0.99) on one node, GraphRAG can proactively query all affiliated community orders and recommend batch rerouting before SLA violations occur.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Calibri"/>
              </a:defRPr>
            </a:pPr>
            <a:r>
              <a:t>Slide 4 — Multimodal Generation Design: Techniques &amp; Output Mockup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94944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8BDF8"/>
                </a:solidFill>
                <a:latin typeface="Calibri"/>
              </a:defRPr>
            </a:pPr>
            <a:r>
              <a:t>Part 2: Evaluation of Multimodal Modalities, Selection of Core Capabilities, and Concept Mockup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5120640" cy="5394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88720"/>
            <a:ext cx="48463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📊 2.1 Evaluation of Generation Techniques</a:t>
            </a:r>
          </a:p>
          <a:p>
            <a:pPr>
              <a:defRPr sz="880"/>
            </a:pPr>
            <a:r>
              <a:rPr b="1">
                <a:solidFill>
                  <a:srgbClr val="FBBF24"/>
                </a:solidFill>
              </a:rPr>
              <a:t>• Visualization: </a:t>
            </a:r>
            <a:r>
              <a:rPr b="1">
                <a:solidFill>
                  <a:srgbClr val="34D399"/>
                </a:solidFill>
              </a:rPr>
              <a:t>[High Value] </a:t>
            </a:r>
            <a:r>
              <a:rPr>
                <a:solidFill>
                  <a:srgbClr val="E2E8F0"/>
                </a:solidFill>
              </a:rPr>
              <a:t>Explores network topologies, community boundaries, bottleneck nodes, and multi-hop delay paths.</a:t>
            </a:r>
          </a:p>
          <a:p>
            <a:pPr>
              <a:defRPr sz="880"/>
            </a:pPr>
            <a:r>
              <a:rPr b="1">
                <a:solidFill>
                  <a:srgbClr val="FBBF24"/>
                </a:solidFill>
              </a:rPr>
              <a:t>• Chart Generation: </a:t>
            </a:r>
            <a:r>
              <a:rPr b="1">
                <a:solidFill>
                  <a:srgbClr val="34D399"/>
                </a:solidFill>
              </a:rPr>
              <a:t>[High Value] </a:t>
            </a:r>
            <a:r>
              <a:rPr>
                <a:solidFill>
                  <a:srgbClr val="E2E8F0"/>
                </a:solidFill>
              </a:rPr>
              <a:t>Dynamic SLA breach probability curves, carrier performance comparison bars, and delay distributions.</a:t>
            </a:r>
          </a:p>
          <a:p>
            <a:pPr>
              <a:defRPr sz="880"/>
            </a:pPr>
            <a:r>
              <a:rPr b="1">
                <a:solidFill>
                  <a:srgbClr val="FBBF24"/>
                </a:solidFill>
              </a:rPr>
              <a:t>• Speech Generation: </a:t>
            </a:r>
            <a:r>
              <a:rPr b="1">
                <a:solidFill>
                  <a:srgbClr val="FBBF24"/>
                </a:solidFill>
              </a:rPr>
              <a:t>[Medium Value] </a:t>
            </a:r>
            <a:r>
              <a:rPr>
                <a:solidFill>
                  <a:srgbClr val="E2E8F0"/>
                </a:solidFill>
              </a:rPr>
              <a:t>Useful for hands-free warehouse dispatchers, but secondary for operational analysts.</a:t>
            </a:r>
          </a:p>
          <a:p>
            <a:pPr>
              <a:defRPr sz="880"/>
            </a:pPr>
            <a:r>
              <a:rPr b="1">
                <a:solidFill>
                  <a:srgbClr val="FBBF24"/>
                </a:solidFill>
              </a:rPr>
              <a:t>• Video Generation: </a:t>
            </a:r>
            <a:r>
              <a:rPr b="1">
                <a:solidFill>
                  <a:srgbClr val="FB7185"/>
                </a:solidFill>
              </a:rPr>
              <a:t>[Low Value] </a:t>
            </a:r>
            <a:r>
              <a:rPr>
                <a:solidFill>
                  <a:srgbClr val="E2E8F0"/>
                </a:solidFill>
              </a:rPr>
              <a:t>High computational latency and low utility for fast-paced logistics incident response.</a:t>
            </a:r>
          </a:p>
          <a:p>
            <a:pPr>
              <a:spcBef>
                <a:spcPts val="600"/>
              </a:spcBef>
              <a:defRPr sz="1100" b="1">
                <a:solidFill>
                  <a:srgbClr val="34D399"/>
                </a:solidFill>
              </a:defRPr>
            </a:pPr>
            <a:r>
              <a:t>🎯 2.2 Selected Multimodal Techniques &amp; Justification</a:t>
            </a:r>
          </a:p>
          <a:p>
            <a:pPr>
              <a:defRPr sz="950" b="1">
                <a:solidFill>
                  <a:srgbClr val="FBBF24"/>
                </a:solidFill>
              </a:defRPr>
            </a:pPr>
            <a:r>
              <a:t>1. On-The-Fly Analytical Diagnostic Charts</a:t>
            </a:r>
          </a:p>
          <a:p>
            <a:pPr>
              <a:spcAft>
                <a:spcPts val="300"/>
              </a:spcAft>
              <a:defRPr sz="850">
                <a:solidFill>
                  <a:srgbClr val="E2E8F0"/>
                </a:solidFill>
              </a:defRPr>
            </a:pPr>
            <a:r>
              <a:t>• Content: Dynamic SLA delay probability bars and carrier variance charts.</a:t>
            </a:r>
            <a:br/>
            <a:r>
              <a:t>• Supporting Data: Historical delivery logs, GNN risk embeddings, community aggregates.</a:t>
            </a:r>
            <a:br/>
            <a:r>
              <a:t>• Target Users: Operations Directors &amp; Vendor Managers.</a:t>
            </a:r>
            <a:br/>
            <a:r>
              <a:t>• Why better than text: Provides instant quantitative proof for carrier SLA disputes.</a:t>
            </a:r>
          </a:p>
          <a:p>
            <a:pPr>
              <a:defRPr sz="950" b="1">
                <a:solidFill>
                  <a:srgbClr val="FBBF24"/>
                </a:solidFill>
              </a:defRPr>
            </a:pPr>
            <a:r>
              <a:t>2. Dynamic Geospatial Subgraph Visualizations</a:t>
            </a:r>
          </a:p>
          <a:p>
            <a:pPr>
              <a:spcAft>
                <a:spcPts val="300"/>
              </a:spcAft>
              <a:defRPr sz="850">
                <a:solidFill>
                  <a:srgbClr val="E2E8F0"/>
                </a:solidFill>
              </a:defRPr>
            </a:pPr>
            <a:r>
              <a:t>• Content: Route bottleneck topologies highlighting choke points and bypass paths.</a:t>
            </a:r>
            <a:br/>
            <a:r>
              <a:t>• Supporting Data: Neo4j subgraphs, community boundaries, carrier transit edges.</a:t>
            </a:r>
            <a:br/>
            <a:r>
              <a:t>• Target Users: Logistics Dispatchers.</a:t>
            </a:r>
            <a:br/>
            <a:r>
              <a:t>• Why better than text: Dispatchers cannot read 5 text paragraphs during a crisis; visual topologies immediately pinpoint the exact point of failure.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0" y="1097280"/>
            <a:ext cx="5760720" cy="53949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4_multimodal_m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188720"/>
            <a:ext cx="557784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Calibri"/>
              </a:defRPr>
            </a:pPr>
            <a:r>
              <a:t>Slide 5 — User-Centered Application Feature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94944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8BDF8"/>
                </a:solidFill>
                <a:latin typeface="Calibri"/>
              </a:defRPr>
            </a:pPr>
            <a:r>
              <a:t>Part 3: Proposing 4 Domain-Specific Features, Defining User Value, and Establishing Priorities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530352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43000"/>
            <a:ext cx="5029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⭐ Feature 1: Hierarchical Community Incident Drill-Down  [HIGH PRIORITY]</a:t>
            </a:r>
          </a:p>
          <a:p>
            <a:pPr>
              <a:defRPr sz="880">
                <a:solidFill>
                  <a:srgbClr val="E2E8F0"/>
                </a:solidFill>
              </a:defRPr>
            </a:pPr>
            <a:r>
              <a:t>• What it does: Allows users to explore Leiden community clusters (Level 0 Macro down to Level 2 Micro Orders) and drill down from regional health summaries directly into individual order subgraphs.</a:t>
            </a:r>
            <a:br/>
            <a:r>
              <a:t>• User Benefit: Bridges high-level supply chain visibility with granular operational root cause analysis.</a:t>
            </a:r>
            <a:br/>
            <a:r>
              <a:t>• Knowledge Graph Integration: Combines Leiden community pre-summaries with parameterized multi-hop Cypher queries.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97280"/>
            <a:ext cx="539496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143000"/>
            <a:ext cx="5120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4D399"/>
                </a:solidFill>
              </a:defRPr>
            </a:pPr>
            <a:r>
              <a:t>⭐ Feature 2: Multimodal Early-Warning Risk Cockpit  [HIGH PRIORITY]</a:t>
            </a:r>
          </a:p>
          <a:p>
            <a:pPr>
              <a:defRPr sz="880">
                <a:solidFill>
                  <a:srgbClr val="E2E8F0"/>
                </a:solidFill>
              </a:defRPr>
            </a:pPr>
            <a:r>
              <a:t>• What it does: Generates synchronized dual-pane multimodal responses: natural-language risk synthesis paired with on-the-fly generated SLA risk curves and carrier comparison radar charts.</a:t>
            </a:r>
            <a:br/>
            <a:r>
              <a:t>• User Benefit: Immediate visual verification of AI reasoning, executive-ready incident reporting.</a:t>
            </a:r>
            <a:br/>
            <a:r>
              <a:t>• Knowledge Graph Integration: Grounded on GNN risk embeddings, community aggregate telemetry, and dynamic plotting.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291840"/>
            <a:ext cx="530352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337560"/>
            <a:ext cx="5029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BBF24"/>
                </a:solidFill>
              </a:defRPr>
            </a:pPr>
            <a:r>
              <a:t>⚡ Feature 3: Community-Guided Proactive Mitigation Agent  [MEDIUM PRIORITY]</a:t>
            </a:r>
          </a:p>
          <a:p>
            <a:pPr>
              <a:defRPr sz="880">
                <a:solidFill>
                  <a:srgbClr val="E2E8F0"/>
                </a:solidFill>
              </a:defRPr>
            </a:pPr>
            <a:r>
              <a:t>• What it does: Automatically alerts dispatchers when an entire community hits critical aggregate risk (e.g. &gt;75% delayed nodes in ROUTE_SP_RJ) and recommends alternate carrier bypass paths.</a:t>
            </a:r>
            <a:br/>
            <a:r>
              <a:t>• User Benefit: Shifts logistics from reactive complaint handling to proactive delivery SLA rescue.</a:t>
            </a:r>
            <a:br/>
            <a:r>
              <a:t>• Knowledge Graph Integration: Uses community risk aggregation and alternative shortest-path search in Neo4j KG.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291840"/>
            <a:ext cx="539496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3337560"/>
            <a:ext cx="5120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78BFA"/>
                </a:solidFill>
              </a:defRPr>
            </a:pPr>
            <a:r>
              <a:t>🔮 Feature 4: Interactive 'What-If' Disruption Shock Simulator  [FUTURE]</a:t>
            </a:r>
          </a:p>
          <a:p>
            <a:pPr>
              <a:defRPr sz="880">
                <a:solidFill>
                  <a:srgbClr val="E2E8F0"/>
                </a:solidFill>
              </a:defRPr>
            </a:pPr>
            <a:r>
              <a:t>• What it does: Lets operations teams simulate external shocks (carrier strikes, highway floods) by toggling graph node availability and observing predicted forward community failure cascades.</a:t>
            </a:r>
            <a:br/>
            <a:r>
              <a:t>• User Benefit: Strategic contingency planning and peak-season stress testing.</a:t>
            </a:r>
            <a:br/>
            <a:r>
              <a:t>• Knowledge Graph Integration: Graph topological perturbation and GNN forward message passing.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486400"/>
            <a:ext cx="11064240" cy="10515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55321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📋 Feature Prioritization Rationale &amp; Dependency Matrix:</a:t>
            </a:r>
          </a:p>
          <a:p>
            <a:pPr>
              <a:defRPr sz="880">
                <a:solidFill>
                  <a:srgbClr val="E2E8F0"/>
                </a:solidFill>
              </a:defRPr>
            </a:pPr>
            <a:r>
              <a:t>• High Priority (Immediate Value): Features 1 &amp; 2 directly extend existing GraphRAG + GNN pipelines with community discovery and multimodal outputs.</a:t>
            </a:r>
            <a:br/>
            <a:r>
              <a:t>• Medium Priority (Operational Automation): Feature 3 introduces autonomous decision support by linking community telemetry with rerouting Cypher actions.</a:t>
            </a:r>
            <a:br/>
            <a:r>
              <a:t>• Future Enhancement (Advanced Analytics): Feature 4 builds on GNN forward-simulation for predictive stress-testing before peak shopping events (Black Friday).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Calibri"/>
              </a:defRPr>
            </a:pPr>
            <a:r>
              <a:t>Slide 6 — Application Interface Wireframe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94944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8BDF8"/>
                </a:solidFill>
                <a:latin typeface="Calibri"/>
              </a:defRPr>
            </a:pPr>
            <a:r>
              <a:t>Part 3.3: Interface Architecture Wireframe and Next Steps for Human-AI Co-Design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6949440" cy="53949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4_application_wirefr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88720"/>
            <a:ext cx="6766560" cy="52120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680960" y="1097280"/>
            <a:ext cx="3931920" cy="5394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18120" y="1188720"/>
            <a:ext cx="3657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4D399"/>
                </a:solidFill>
              </a:defRPr>
            </a:pPr>
            <a:r>
              <a:t>🖥️ Interface Design Architecture</a:t>
            </a:r>
          </a:p>
          <a:p>
            <a:pPr>
              <a:defRPr sz="919" b="1">
                <a:solidFill>
                  <a:srgbClr val="FBBF24"/>
                </a:solidFill>
              </a:defRPr>
            </a:pPr>
            <a:r>
              <a:t>1. Top Telemetry &amp; Global Search Bar</a:t>
            </a:r>
          </a:p>
          <a:p>
            <a:pPr>
              <a:spcAft>
                <a:spcPts val="200"/>
              </a:spcAft>
              <a:defRPr sz="819">
                <a:solidFill>
                  <a:srgbClr val="E2E8F0"/>
                </a:solidFill>
              </a:defRPr>
            </a:pPr>
            <a:r>
              <a:t>• Live status indicator (37 KG nodes, 2 active communities).</a:t>
            </a:r>
            <a:br/>
            <a:r>
              <a:t>• Natural language search bar accepting both global and entity queries.</a:t>
            </a:r>
          </a:p>
          <a:p>
            <a:pPr>
              <a:defRPr sz="919" b="1">
                <a:solidFill>
                  <a:srgbClr val="FBBF24"/>
                </a:solidFill>
              </a:defRPr>
            </a:pPr>
            <a:r>
              <a:t>2. Left Panel: Hierarchical Community Explorer</a:t>
            </a:r>
          </a:p>
          <a:p>
            <a:pPr>
              <a:spcAft>
                <a:spcPts val="200"/>
              </a:spcAft>
              <a:defRPr sz="819">
                <a:solidFill>
                  <a:srgbClr val="E2E8F0"/>
                </a:solidFill>
              </a:defRPr>
            </a:pPr>
            <a:r>
              <a:t>• Tree navigation of Leiden partitions (Level 0 Regions → Level 1 Corridors).</a:t>
            </a:r>
            <a:br/>
            <a:r>
              <a:t>• Displays aggregate risk index (84% Critical vs 18% Stable) and entity filters.</a:t>
            </a:r>
          </a:p>
          <a:p>
            <a:pPr>
              <a:defRPr sz="919" b="1">
                <a:solidFill>
                  <a:srgbClr val="FBBF24"/>
                </a:solidFill>
              </a:defRPr>
            </a:pPr>
            <a:r>
              <a:t>3. Center Workspace: Multimodal GraphRAG Assistant</a:t>
            </a:r>
          </a:p>
          <a:p>
            <a:pPr>
              <a:spcAft>
                <a:spcPts val="200"/>
              </a:spcAft>
              <a:defRPr sz="819">
                <a:solidFill>
                  <a:srgbClr val="E2E8F0"/>
                </a:solidFill>
              </a:defRPr>
            </a:pPr>
            <a:r>
              <a:t>• Dual-pane generative response with grounded Cypher evidence.</a:t>
            </a:r>
            <a:br/>
            <a:r>
              <a:t>• Inline embedded dynamic SLA charts and interactive route topologies.</a:t>
            </a:r>
          </a:p>
          <a:p>
            <a:pPr>
              <a:defRPr sz="919" b="1">
                <a:solidFill>
                  <a:srgbClr val="FBBF24"/>
                </a:solidFill>
              </a:defRPr>
            </a:pPr>
            <a:r>
              <a:t>4. Right Panel: Proactive Telemetry &amp; Action Triggers</a:t>
            </a:r>
          </a:p>
          <a:p>
            <a:pPr>
              <a:spcAft>
                <a:spcPts val="200"/>
              </a:spcAft>
              <a:defRPr sz="819">
                <a:solidFill>
                  <a:srgbClr val="E2E8F0"/>
                </a:solidFill>
              </a:defRPr>
            </a:pPr>
            <a:r>
              <a:t>• Community telemetry (orders, freight value, avg delay).</a:t>
            </a:r>
            <a:br/>
            <a:r>
              <a:t>• One-click operational mitigation buttons (Reroute via Azul, Export Report, Broadcast Alerts).</a:t>
            </a:r>
          </a:p>
          <a:p>
            <a:pPr>
              <a:spcBef>
                <a:spcPts val="400"/>
              </a:spcBef>
              <a:defRPr sz="1050" b="1">
                <a:solidFill>
                  <a:srgbClr val="38BDF8"/>
                </a:solidFill>
              </a:defRPr>
            </a:pPr>
            <a:r>
              <a:t>🚀 Next Steps: Challenge 4 Human-AI Co-Design</a:t>
            </a:r>
          </a:p>
          <a:p>
            <a:pPr>
              <a:defRPr sz="819">
                <a:solidFill>
                  <a:srgbClr val="E2E8F0"/>
                </a:solidFill>
              </a:defRPr>
            </a:pPr>
            <a:r>
              <a:t>• AI Design: Use Agentic AI to implement Leiden community partitioning in Neo4j Graph Data Science (GDS).</a:t>
            </a:r>
            <a:br/>
            <a:r>
              <a:t>• Human Evaluation: Verify whether community summaries accurately capture real-world Brazilian logistics bottlenecks.</a:t>
            </a:r>
            <a:br/>
            <a:r>
              <a:t>• Multimodal Integration: Implement Plotly/Matplotlib dynamic chart generation inside the Streamlit cockpit.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