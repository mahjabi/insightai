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0584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8BDF8"/>
                </a:solidFill>
              </a:defRPr>
            </a:pPr>
            <a:r>
              <a:t>InsightAI: Human Design for Semantic Modeling &amp; Graph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FFFFFF"/>
                </a:solidFill>
              </a:defRPr>
            </a:pPr>
            <a:r>
              <a:t>Designing Knowledge Structures to Enable Multi-Hop Reasoning Across E-Commerce Logistics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CS 5542 Big Data Analytics • Challenge 3 Preparation • October 5, 2026 • Mahjabin Mredu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291840"/>
            <a:ext cx="3474720" cy="30175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3649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Calibri"/>
              </a:defRPr>
            </a:pPr>
            <a:r>
              <a:t>🎯 Project Problem &amp; Target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75888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Problem: E-commerce operations teams &amp; buyers cannot connect numerical shipping lags with qualitative product defect themes.</a:t>
            </a:r>
          </a:p>
          <a:p>
            <a:pPr>
              <a:spcAft>
                <a:spcPts val="2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Target Users: Category managers, logistics auditors, &amp; prospective e-commerce shoppers.</a:t>
            </a:r>
          </a:p>
          <a:p>
            <a:pPr>
              <a:spcAft>
                <a:spcPts val="2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Current Baseline: SQL tables + flat review texts. Lacks relational semantics connecting sellers, logistics nodes, and defect causes.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291840"/>
            <a:ext cx="3474720" cy="30175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33649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Calibri"/>
              </a:defRPr>
            </a:pPr>
            <a:r>
              <a:t>💡 Why Semantic Modeling is Needed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3675888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Relational joins answer 'WHAT' (e.g. 21.9d delivery lag).</a:t>
            </a:r>
          </a:p>
          <a:p>
            <a:pPr>
              <a:spcAft>
                <a:spcPts val="2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Pure RAG answers 'WHAT USERS SAID' (e.g. 'broken legs').</a:t>
            </a:r>
          </a:p>
          <a:p>
            <a:pPr>
              <a:spcAft>
                <a:spcPts val="2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Semantic Modeling bridges the gap: it explicitly defines entities (Sellers, Regions, Carriers, Defects) and their multi-hop causal connections.</a:t>
            </a:r>
          </a:p>
          <a:p>
            <a:pPr>
              <a:spcAft>
                <a:spcPts val="2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Discovers root causes: Carrier X in Region Y consistently damages heavy Furniture 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291840"/>
            <a:ext cx="3474720" cy="30175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33649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B7185"/>
                </a:solidFill>
                <a:latin typeface="Calibri"/>
              </a:defRPr>
            </a:pPr>
            <a:r>
              <a:t>⚠️ Limitations of Pure Vector / Doc RAG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3675888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Vector Search is Fragmented: Matches keywords or isolated reviews; cannot aggregate multi-hop paths.</a:t>
            </a:r>
          </a:p>
          <a:p>
            <a:pPr>
              <a:spcAft>
                <a:spcPts val="2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Blind to Entity Topology: Cannot traverse Customer -&gt; Order -&gt; Seller -&gt; Geolocation -&gt; Defect.</a:t>
            </a:r>
          </a:p>
          <a:p>
            <a:pPr>
              <a:spcAft>
                <a:spcPts val="2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Lacks Explicit Constraints: Vectors cannot filter by exact carrier routes or contract violation rules.</a:t>
            </a:r>
          </a:p>
          <a:p>
            <a:pPr>
              <a:spcAft>
                <a:spcPts val="2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Graph RAG fixes this: Combines structured knowledge paths with unstructured textual nuances.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Domain Knowledge for InsightAI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What knowledge must the system understand to answer complex operational questions?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2606040" cy="39319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🛍️ 1. Commercial Entities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64208"/>
            <a:ext cx="2331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Customer: Buyer profile, zip code prefix, state, customer lifetime orders.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Seller: Merchant ID, fulfillment hub, origin state, seller compliance tier.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Order: Transaction timestamp, carrier handoff date, delivered date, estimated arrival date.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280160"/>
            <a:ext cx="2606040" cy="39319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353312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Calibri"/>
              </a:defRPr>
            </a:pPr>
            <a:r>
              <a:t>📦 2. Product &amp; Catalog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664208"/>
            <a:ext cx="2331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Product: SKU ID, weight (g), dimensions (L, W, H cm).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Category: High-level classification (furniture, tech, health, beauty).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Packaging Class: Flat-pack, fragile glassware, heavy bulk, standard parcel.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280160"/>
            <a:ext cx="2606040" cy="39319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353312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Calibri"/>
              </a:defRPr>
            </a:pPr>
            <a:r>
              <a:t>🚚 3. Logistics &amp; Geo Knowledge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64208"/>
            <a:ext cx="2331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Logistics Route: Origin state -&gt; Destination state transit lane.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Freight / Carrier: Shipping cost, regional transit distance, transit delay days.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Geolocation: Brazilian states (SP, RJ, MG, BA, etc.), urban vs remote rural hubs.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1280160"/>
            <a:ext cx="2606040" cy="39319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353312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A78BFA"/>
                </a:solidFill>
                <a:latin typeface="Calibri"/>
              </a:defRPr>
            </a:pPr>
            <a:r>
              <a:t>💬 4. Experiential Feedback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664208"/>
            <a:ext cx="2331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Review: 1-5★ rating, review timestamp, bilingual comment message (PT/EN).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Root Cause Complaint: Damaged goods, late transit, missing hardware, color mismatch.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Operational Remediation: Courier audit, delivery ETA buffer, seller warning.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394960"/>
            <a:ext cx="10972800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48640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FBBF24"/>
                </a:solidFill>
              </a:defRPr>
            </a:pPr>
            <a:r>
              <a:t>🔑 Essential Domain Insight: In e-commerce logistics, a low review is rarely an isolated product flaw. It is a multi-hop causal chain: Customer Experience ← Review Score ← Transit Friction ← Regional Route ← Seller Packaging ← Product Weight.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Ontology Research for E-Commerce Logistics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Analyzing existing semantic vocabularies, schemas, and adapting them to InsightAI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566160" cy="43891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4475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🌐 1. Schema.org (E-Commerce)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55648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Domain &amp; Structure: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Global standard for web structured data.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Core Classes: Order, Product, Offer, Review, PostalAddress.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Key Relationships: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Order -&gt; orderedItem -&gt; Product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Product -&gt; review -&gt; Review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Organization -&gt; address -&gt; PostalAddress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Relevance &amp; Adaptation to InsightAI: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Reused: Standardized naming for Order, Product, Review, and Customer entities.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Limitation: Lacks granular logistics friction (shipping delays, in-transit package damage, route carrier hops).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371600"/>
            <a:ext cx="3566160" cy="43891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39" y="144475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Calibri"/>
              </a:defRPr>
            </a:pPr>
            <a:r>
              <a:t>🏷️ 2. GoodRelations Ontology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39" y="1755648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Domain &amp; Structure: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Specialized ontology for e-commerce, commercial offerings, and price specifications.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Key Relationships: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BusinessEntity -&gt; offers -&gt; Offering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DeliveryChargeSpecification -&gt; appliesTo -&gt; DeliveryMethod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QuantitativeValue -&gt; hasUnitOfMeasurement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Relevance &amp; Adaptation to InsightAI: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Reused: Formal modeling of freight value as a dependent node of delivery distance and product dimensions.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Limitation: Designed for pre-purchase catalog offerings; does not model post-purchase dispute/complaint semantics.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8" y="1371600"/>
            <a:ext cx="3566160" cy="43891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8" y="144475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A78BFA"/>
                </a:solidFill>
                <a:latin typeface="Calibri"/>
              </a:defRPr>
            </a:pPr>
            <a:r>
              <a:t>📦 3. Logistics &amp; Supply Chain (SCOR / W3C)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8" y="1755648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Domain &amp; Structure: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Supply Chain Operations Reference (SCOR) &amp; W3C Spatial Data standards.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Key Relationships: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TransitHop -&gt; connectedTo -&gt; Route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FreightBatch -&gt; transportedBy -&gt; Carrier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IncidentEvent -&gt; triggersDelay -&gt; TransitHop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Relevance &amp; Adaptation to InsightAI: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Reused: Multi-hop spatial modeling: linking Seller Location -&gt; Transit Route -&gt; Customer Location -&gt; Delay Condition.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Adaptation: Connected logistics delay nodes directly to customer sentiment complaint tags.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E2E8F0"/>
                </a:solidFill>
              </a:defRPr>
            </a:pPr>
            <a:r>
              <a:t>Synthesized Approach: We adopt Schema.org for product-order transactions, GoodRelations for freight attributes, and SCOR for spatial logistics routes.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Key Entities &amp; Attributes in InsightAI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Derived directly from real Olist transactions and operational requirements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2606040" cy="23317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🧾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64208"/>
            <a:ext cx="23317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• order_id (PK, String)</a:t>
            </a:r>
          </a:p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• purchase_timestamp (Datetime)</a:t>
            </a:r>
          </a:p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• delivered_customer_date (Datetime)</a:t>
            </a:r>
          </a:p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• estimated_delivery_date (Datetime)</a:t>
            </a:r>
          </a:p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• actual_delivery_days (Integer)</a:t>
            </a:r>
          </a:p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• is_delayed (Boolean: 0/1)</a:t>
            </a:r>
          </a:p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• status (String: delivered, etc.)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280160"/>
            <a:ext cx="2606040" cy="23317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353312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Calibri"/>
              </a:defRPr>
            </a:pPr>
            <a:r>
              <a:t>📦 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664208"/>
            <a:ext cx="23317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• product_id (PK, String)</a:t>
            </a:r>
          </a:p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• product_category_name (String)</a:t>
            </a:r>
          </a:p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• product_weight_g (Float)</a:t>
            </a:r>
          </a:p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• product_length_cm (Float)</a:t>
            </a:r>
          </a:p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• product_height_cm (Float)</a:t>
            </a:r>
          </a:p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• product_width_cm (Float)</a:t>
            </a:r>
          </a:p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• volume_cm3 (Computed Float)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280160"/>
            <a:ext cx="2606040" cy="23317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353312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Calibri"/>
              </a:defRPr>
            </a:pPr>
            <a:r>
              <a:t>👤 Customer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64208"/>
            <a:ext cx="23317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• customer_id (PK, String)</a:t>
            </a:r>
          </a:p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• customer_unique_id (String)</a:t>
            </a:r>
          </a:p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• customer_zip_code_prefix (String)</a:t>
            </a:r>
          </a:p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• customer_city (String)</a:t>
            </a:r>
          </a:p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• customer_state (String: SP, RJ...)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1280160"/>
            <a:ext cx="2606040" cy="23317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353312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A78BFA"/>
                </a:solidFill>
                <a:latin typeface="Calibri"/>
              </a:defRPr>
            </a:pPr>
            <a:r>
              <a:t>🏬 Seller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664208"/>
            <a:ext cx="23317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• seller_id (PK, String)</a:t>
            </a:r>
          </a:p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• seller_zip_code_prefix (String)</a:t>
            </a:r>
          </a:p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• seller_city (String)</a:t>
            </a:r>
          </a:p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• seller_state (String: SP, PR...)</a:t>
            </a:r>
          </a:p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• compliance_rating (Float: 1-5)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794760"/>
            <a:ext cx="2606040" cy="23317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867912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B7185"/>
                </a:solidFill>
                <a:latin typeface="Calibri"/>
              </a:defRPr>
            </a:pPr>
            <a:r>
              <a:t>💬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178808"/>
            <a:ext cx="23317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• review_id (PK, String)</a:t>
            </a:r>
          </a:p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• review_score (Integer: 1-5★)</a:t>
            </a:r>
          </a:p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• review_comment_message_pt (Text)</a:t>
            </a:r>
          </a:p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• review_comment_message_en (Text)</a:t>
            </a:r>
          </a:p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• sentiment (Positive / Neutral / Neg)</a:t>
            </a:r>
          </a:p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• review_creation_date (Date)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37560" y="3794760"/>
            <a:ext cx="2606040" cy="23317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3867912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⚠️ ComplaintCause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178808"/>
            <a:ext cx="23317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• complaint_id (PK, String)</a:t>
            </a:r>
          </a:p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• cause_name (String)</a:t>
            </a:r>
          </a:p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  (damaged_product, delivery_delay,</a:t>
            </a:r>
          </a:p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   missing_parts, poor_quality,</a:t>
            </a:r>
          </a:p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   wrong_item)</a:t>
            </a:r>
          </a:p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• severity_level (High / Medium / Low)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794760"/>
            <a:ext cx="2606040" cy="23317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3867912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Calibri"/>
              </a:defRPr>
            </a:pPr>
            <a:r>
              <a:t>🗺️ LogisticsRoute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178808"/>
            <a:ext cx="23317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• route_id (PK, String: e.g. SP_TO_RJ)</a:t>
            </a:r>
          </a:p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• origin_state (String)</a:t>
            </a:r>
          </a:p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• destination_state (String)</a:t>
            </a:r>
          </a:p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• avg_route_transit_days (Float)</a:t>
            </a:r>
          </a:p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• route_delay_rate (Percentage)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15400" y="3794760"/>
            <a:ext cx="2606040" cy="23317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3867912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Calibri"/>
              </a:defRPr>
            </a:pPr>
            <a:r>
              <a:t>🛠️ RemediationAction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4178808"/>
            <a:ext cx="23317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• action_id (PK, String)</a:t>
            </a:r>
          </a:p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• action_type (String: SLA_Warning,</a:t>
            </a:r>
          </a:p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  Buffer_Delivery_Days, Packaging_Audit)</a:t>
            </a:r>
          </a:p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• status (Proposed / Approved / Logged)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Domain Relationships &amp; Semantic Triples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Defining the structural links connecting orders, physical logistics, and customer experiences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10642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103120"/>
                <a:gridCol w="1828800"/>
                <a:gridCol w="1005840"/>
                <a:gridCol w="4480560"/>
              </a:tblGrid>
              <a:tr h="477520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 Entity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Relationship (Predicate)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 Entity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Multiplicity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Domain Reasoning &amp; Importance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Customer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PLACED_ORDER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Order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 : 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Tracks customer purchasing patterns and multi-order dispute histories.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Order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CONTAINS_ITEM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Product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 : 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Links transaction to physical catalog items and product weight/dimensions.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Seller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FULFILLS_ITEM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Product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N : 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Identifies which merchant is responsible for item quality &amp; packaging.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Order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TRANSPORTED_VIA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LogisticsRoute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N : 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Maps the order to origin-destination state transit lanes (e.g. SP -&gt; BA).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Order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RECEIVES_FEEDBACK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Review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 : 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Directly grounds review text in factual timestamps, actual days, and freight.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Review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CITES_COMPLAINT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ComplaintCause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 : 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Connects unstructured review text to standardized operational failure tags.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ComplaintCause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EXPLAINED_BY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LogisticsRoute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N : 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Causal link: identifies when damage or delays correlate with specific routes.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ComplaintCause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TRIGGERS_REMEDY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RemediationAction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N : 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Empowers decision support: auto-links frequent defects to corrective actions.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D399"/>
                </a:solidFill>
              </a:defRPr>
            </a:pPr>
            <a:r>
              <a:t>Semantic Advantage: In pure SQL, discovering that 'Carrier X on Route Y causes damaged Furniture' requires 6-table joins. In our graph, it is a single 3-hop traversal path.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Domain Schema Graph (InsightAI Ontology)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Conceptual graph representation of entities, attributes, and directed relationships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64240" cy="420624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8BDF8"/>
                </a:solidFill>
                <a:latin typeface="Courier"/>
              </a:defRPr>
            </a:pPr>
            <a:r>
              <a:t>                           INSIGHTAI DOMAIN KNOWLEDGE SCHEMA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  <a:latin typeface="Courier"/>
              </a:defRPr>
            </a:pPr>
            <a:r>
              <a:t> ==================================================================================================</a:t>
            </a:r>
          </a:p>
          <a:p>
            <a:pPr>
              <a:spcAft>
                <a:spcPts val="200"/>
              </a:spcAft>
              <a:defRPr sz="1000" b="1">
                <a:solidFill>
                  <a:srgbClr val="FFFFFF"/>
                </a:solidFill>
                <a:latin typeface="Courier"/>
              </a:defRPr>
            </a:pPr>
            <a:r>
              <a:t> [Customer] ──(PLACED_ORDER)──► [Order] ◄──(FULFILLS_ORDER)── [Seller]</a:t>
            </a:r>
          </a:p>
          <a:p>
            <a:pPr>
              <a:spcAft>
                <a:spcPts val="200"/>
              </a:spcAft>
              <a:defRPr sz="900" b="0">
                <a:solidFill>
                  <a:srgbClr val="FBBF24"/>
                </a:solidFill>
                <a:latin typeface="Courier"/>
              </a:defRPr>
            </a:pPr>
            <a:r>
              <a:t>     │                            │                               │</a:t>
            </a:r>
          </a:p>
          <a:p>
            <a:pPr>
              <a:spcAft>
                <a:spcPts val="200"/>
              </a:spcAft>
              <a:defRPr sz="900" b="0">
                <a:solidFill>
                  <a:srgbClr val="FBBF24"/>
                </a:solidFill>
                <a:latin typeface="Courier"/>
              </a:defRPr>
            </a:pPr>
            <a:r>
              <a:t>     │ (LOCATED_IN)               │ (CONTAINS_ITEM)               │ (LOCATED_IN)</a:t>
            </a:r>
          </a:p>
          <a:p>
            <a:pPr>
              <a:spcAft>
                <a:spcPts val="200"/>
              </a:spcAft>
              <a:defRPr sz="900" b="0">
                <a:solidFill>
                  <a:srgbClr val="FBBF24"/>
                </a:solidFill>
                <a:latin typeface="Courier"/>
              </a:defRPr>
            </a:pPr>
            <a:r>
              <a:t>     ▼                            ▼                               ▼</a:t>
            </a:r>
          </a:p>
          <a:p>
            <a:pPr>
              <a:spcAft>
                <a:spcPts val="200"/>
              </a:spcAft>
              <a:defRPr sz="1000" b="1">
                <a:solidFill>
                  <a:srgbClr val="34D399"/>
                </a:solidFill>
                <a:latin typeface="Courier"/>
              </a:defRPr>
            </a:pPr>
            <a:r>
              <a:t> [GeoLocation]                    [Product]                     [GeoLocation]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  <a:latin typeface="Courier"/>
              </a:defRPr>
            </a:pPr>
            <a:r>
              <a:t> (Dest: State, City)              (weight, dim, category)       (Origin: State, City)</a:t>
            </a:r>
          </a:p>
          <a:p>
            <a:pPr>
              <a:spcAft>
                <a:spcPts val="200"/>
              </a:spcAft>
              <a:defRPr sz="900" b="0">
                <a:solidFill>
                  <a:srgbClr val="FBBF24"/>
                </a:solidFill>
                <a:latin typeface="Courier"/>
              </a:defRPr>
            </a:pPr>
            <a:r>
              <a:t>     │                                │                               │</a:t>
            </a:r>
          </a:p>
          <a:p>
            <a:pPr>
              <a:spcAft>
                <a:spcPts val="200"/>
              </a:spcAft>
              <a:defRPr sz="900" b="0">
                <a:solidFill>
                  <a:srgbClr val="38BDF8"/>
                </a:solidFill>
                <a:latin typeface="Courier"/>
              </a:defRPr>
            </a:pPr>
            <a:r>
              <a:t>     └────────► [LogisticsRoute] ◄────┴───────────────────────────────┘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  <a:latin typeface="Courier"/>
              </a:defRPr>
            </a:pPr>
            <a:r>
              <a:t>                (origin_state -&gt; dest_state, transit_days, delay_ratio)</a:t>
            </a:r>
          </a:p>
          <a:p>
            <a:pPr>
              <a:spcAft>
                <a:spcPts val="200"/>
              </a:spcAft>
              <a:defRPr sz="900" b="0">
                <a:solidFill>
                  <a:srgbClr val="FBBF24"/>
                </a:solidFill>
                <a:latin typeface="Courier"/>
              </a:defRPr>
            </a:pPr>
            <a:r>
              <a:t>                      │</a:t>
            </a:r>
          </a:p>
          <a:p>
            <a:pPr>
              <a:spcAft>
                <a:spcPts val="200"/>
              </a:spcAft>
              <a:defRPr sz="900" b="0">
                <a:solidFill>
                  <a:srgbClr val="FBBF24"/>
                </a:solidFill>
                <a:latin typeface="Courier"/>
              </a:defRPr>
            </a:pPr>
            <a:r>
              <a:t>                      │ (EXPERIENCES_DELAY_ON)</a:t>
            </a:r>
          </a:p>
          <a:p>
            <a:pPr>
              <a:spcAft>
                <a:spcPts val="200"/>
              </a:spcAft>
              <a:defRPr sz="900" b="0">
                <a:solidFill>
                  <a:srgbClr val="FBBF24"/>
                </a:solidFill>
                <a:latin typeface="Courier"/>
              </a:defRPr>
            </a:pPr>
            <a:r>
              <a:t>                      ▼</a:t>
            </a:r>
          </a:p>
          <a:p>
            <a:pPr>
              <a:spcAft>
                <a:spcPts val="200"/>
              </a:spcAft>
              <a:defRPr sz="1000" b="1">
                <a:solidFill>
                  <a:srgbClr val="FFFFFF"/>
                </a:solidFill>
                <a:latin typeface="Courier"/>
              </a:defRPr>
            </a:pPr>
            <a:r>
              <a:t> [Order] ──(RECEIVES_FEEDBACK)──► [Review] ──(CITES_COMPLAINT)──► [ComplaintCause]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  <a:latin typeface="Courier"/>
              </a:defRPr>
            </a:pPr>
            <a:r>
              <a:t>                                (score: 1-5★, text PT/EN)         (damaged_product, delay...)</a:t>
            </a:r>
          </a:p>
          <a:p>
            <a:pPr>
              <a:spcAft>
                <a:spcPts val="200"/>
              </a:spcAft>
              <a:defRPr sz="900" b="0">
                <a:solidFill>
                  <a:srgbClr val="FBBF24"/>
                </a:solidFill>
                <a:latin typeface="Courier"/>
              </a:defRPr>
            </a:pPr>
            <a:r>
              <a:t>                                                                        │</a:t>
            </a:r>
          </a:p>
          <a:p>
            <a:pPr>
              <a:spcAft>
                <a:spcPts val="200"/>
              </a:spcAft>
              <a:defRPr sz="900" b="0">
                <a:solidFill>
                  <a:srgbClr val="FBBF24"/>
                </a:solidFill>
                <a:latin typeface="Courier"/>
              </a:defRPr>
            </a:pPr>
            <a:r>
              <a:t>                                                                        │ (TRIGGERS_REMEDY)</a:t>
            </a:r>
          </a:p>
          <a:p>
            <a:pPr>
              <a:spcAft>
                <a:spcPts val="200"/>
              </a:spcAft>
              <a:defRPr sz="900" b="0">
                <a:solidFill>
                  <a:srgbClr val="FBBF24"/>
                </a:solidFill>
                <a:latin typeface="Courier"/>
              </a:defRPr>
            </a:pPr>
            <a:r>
              <a:t>                                                                        ▼</a:t>
            </a:r>
          </a:p>
          <a:p>
            <a:pPr>
              <a:spcAft>
                <a:spcPts val="200"/>
              </a:spcAft>
              <a:defRPr sz="1000" b="1">
                <a:solidFill>
                  <a:srgbClr val="FB7185"/>
                </a:solidFill>
                <a:latin typeface="Courier"/>
              </a:defRPr>
            </a:pPr>
            <a:r>
              <a:t>                                                               [RemediationAction]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  <a:latin typeface="Courier"/>
              </a:defRPr>
            </a:pPr>
            <a:r>
              <a:t>                                                               (Carrier_Audit, Buffer_Days)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577840"/>
            <a:ext cx="11064240" cy="10058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6509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Calibri"/>
              </a:defRPr>
            </a:pPr>
            <a:r>
              <a:t>📐 Schema Properties &amp; Cardinality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96188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1050">
                <a:solidFill>
                  <a:srgbClr val="E2E8F0"/>
                </a:solidFill>
                <a:latin typeface="Calibri"/>
              </a:defRPr>
            </a:pPr>
            <a:r>
              <a:t>• Nodes (7 Classes): Customer, Seller, Order, Product, LogisticsRoute, Review, ComplaintCause.</a:t>
            </a:r>
          </a:p>
          <a:p>
            <a:pPr>
              <a:spcAft>
                <a:spcPts val="250"/>
              </a:spcAft>
              <a:defRPr sz="1050">
                <a:solidFill>
                  <a:srgbClr val="E2E8F0"/>
                </a:solidFill>
                <a:latin typeface="Calibri"/>
              </a:defRPr>
            </a:pPr>
            <a:r>
              <a:t>• Directed Edges (8 Types): PLACED_ORDER, FULFILLS_ORDER, CONTAINS_ITEM, LOCATED_IN, RECEIVES_FEEDBACK, CITES_COMPLAINT, EXPERIENCES_DELAY_ON, TRIGGERS_REMEDY.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Example Knowledge Graph (Instance Level)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Grounded in real Olist e-commerce records from Challenge 2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64240" cy="393192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4D399"/>
                </a:solidFill>
                <a:latin typeface="Courier"/>
              </a:defRPr>
            </a:pPr>
            <a:r>
              <a:t>                       REAL INSTANCE GRAPH SUBGRAPH (FURNITURE CATEGORY)</a:t>
            </a:r>
          </a:p>
          <a:p>
            <a:pPr>
              <a:spcAft>
                <a:spcPts val="200"/>
              </a:spcAft>
              <a:defRPr sz="900" b="0">
                <a:solidFill>
                  <a:srgbClr val="94A3B8"/>
                </a:solidFill>
                <a:latin typeface="Courier"/>
              </a:defRPr>
            </a:pPr>
            <a:r>
              <a:t> ==================================================================================================</a:t>
            </a:r>
          </a:p>
          <a:p>
            <a:pPr>
              <a:spcAft>
                <a:spcPts val="200"/>
              </a:spcAft>
              <a:defRPr sz="1000" b="1">
                <a:solidFill>
                  <a:srgbClr val="FFFFFF"/>
                </a:solidFill>
                <a:latin typeface="Courier"/>
              </a:defRPr>
            </a:pPr>
            <a:r>
              <a:t> (:Customer {id: 'CUST_4821', state: 'RJ'}) ──[:PLACED_ORDER]──► (:Order {id: 'ORD_50042', actual_days: 25})</a:t>
            </a:r>
          </a:p>
          <a:p>
            <a:pPr>
              <a:spcAft>
                <a:spcPts val="200"/>
              </a:spcAft>
              <a:defRPr sz="900" b="0">
                <a:solidFill>
                  <a:srgbClr val="FBBF24"/>
                </a:solidFill>
                <a:latin typeface="Courier"/>
              </a:defRPr>
            </a:pPr>
            <a:r>
              <a:t>                                                                     │</a:t>
            </a:r>
          </a:p>
          <a:p>
            <a:pPr>
              <a:spcAft>
                <a:spcPts val="200"/>
              </a:spcAft>
              <a:defRPr sz="900" b="0">
                <a:solidFill>
                  <a:srgbClr val="38BDF8"/>
                </a:solidFill>
                <a:latin typeface="Courier"/>
              </a:defRPr>
            </a:pPr>
            <a:r>
              <a:t>                                        ┌────────────────────────────┴─────────────────────────────┐</a:t>
            </a:r>
          </a:p>
          <a:p>
            <a:pPr>
              <a:spcAft>
                <a:spcPts val="200"/>
              </a:spcAft>
              <a:defRPr sz="900" b="0">
                <a:solidFill>
                  <a:srgbClr val="38BDF8"/>
                </a:solidFill>
                <a:latin typeface="Courier"/>
              </a:defRPr>
            </a:pPr>
            <a:r>
              <a:t>                                        ▼                                                          ▼</a:t>
            </a:r>
          </a:p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Courier"/>
              </a:defRPr>
            </a:pPr>
            <a:r>
              <a:t> (:Product {id: 'PROD_1001', cat: 'furniture_decor', weight: 4.8kg})       (:LogisticsRoute {id: 'SP_TO_RJ', avg_lag: 22d})</a:t>
            </a:r>
          </a:p>
          <a:p>
            <a:pPr>
              <a:spcAft>
                <a:spcPts val="200"/>
              </a:spcAft>
              <a:defRPr sz="900" b="0">
                <a:solidFill>
                  <a:srgbClr val="FBBF24"/>
                </a:solidFill>
                <a:latin typeface="Courier"/>
              </a:defRPr>
            </a:pPr>
            <a:r>
              <a:t>                 ▲                                                                         ▲</a:t>
            </a:r>
          </a:p>
          <a:p>
            <a:pPr>
              <a:spcAft>
                <a:spcPts val="200"/>
              </a:spcAft>
              <a:defRPr sz="900" b="0">
                <a:solidFill>
                  <a:srgbClr val="FBBF24"/>
                </a:solidFill>
                <a:latin typeface="Courier"/>
              </a:defRPr>
            </a:pPr>
            <a:r>
              <a:t>                 │ [:FULFILLS_ITEM]                                                        │ [:OPERATES_IN]</a:t>
            </a:r>
          </a:p>
          <a:p>
            <a:pPr>
              <a:spcAft>
                <a:spcPts val="200"/>
              </a:spcAft>
              <a:defRPr sz="1000" b="1">
                <a:solidFill>
                  <a:srgbClr val="FBBF24"/>
                </a:solidFill>
                <a:latin typeface="Courier"/>
              </a:defRPr>
            </a:pPr>
            <a:r>
              <a:t> (:Seller {id: 'SELLER_182', state: 'SP'}) ───────────────────────────────────────────────┘</a:t>
            </a:r>
          </a:p>
          <a:p>
            <a:pPr>
              <a:spcAft>
                <a:spcPts val="200"/>
              </a:spcAft>
              <a:defRPr sz="900" b="0">
                <a:solidFill>
                  <a:srgbClr val="FB7185"/>
                </a:solidFill>
                <a:latin typeface="Courier"/>
              </a:defRPr>
            </a:pPr>
            <a:r>
              <a:t>                                        │</a:t>
            </a:r>
          </a:p>
          <a:p>
            <a:pPr>
              <a:spcAft>
                <a:spcPts val="200"/>
              </a:spcAft>
              <a:defRPr sz="900" b="0">
                <a:solidFill>
                  <a:srgbClr val="FB7185"/>
                </a:solidFill>
                <a:latin typeface="Courier"/>
              </a:defRPr>
            </a:pPr>
            <a:r>
              <a:t>                                        ▼ [:RECEIVES_FEEDBACK]</a:t>
            </a:r>
          </a:p>
          <a:p>
            <a:pPr>
              <a:spcAft>
                <a:spcPts val="200"/>
              </a:spcAft>
              <a:defRPr sz="1000" b="1">
                <a:solidFill>
                  <a:srgbClr val="FFFFFF"/>
                </a:solidFill>
                <a:latin typeface="Courier"/>
              </a:defRPr>
            </a:pPr>
            <a:r>
              <a:t> (:Review {id: 'REV_90114', score: 1, text: 'Mesa chegou com perna quebrada / Table arrived broken'})</a:t>
            </a:r>
          </a:p>
          <a:p>
            <a:pPr>
              <a:spcAft>
                <a:spcPts val="200"/>
              </a:spcAft>
              <a:defRPr sz="900" b="0">
                <a:solidFill>
                  <a:srgbClr val="FB7185"/>
                </a:solidFill>
                <a:latin typeface="Courier"/>
              </a:defRPr>
            </a:pPr>
            <a:r>
              <a:t>                                        │</a:t>
            </a:r>
          </a:p>
          <a:p>
            <a:pPr>
              <a:spcAft>
                <a:spcPts val="200"/>
              </a:spcAft>
              <a:defRPr sz="900" b="0">
                <a:solidFill>
                  <a:srgbClr val="FB7185"/>
                </a:solidFill>
                <a:latin typeface="Courier"/>
              </a:defRPr>
            </a:pPr>
            <a:r>
              <a:t>                                        ▼ [:CITES_COMPLAINT]</a:t>
            </a:r>
          </a:p>
          <a:p>
            <a:pPr>
              <a:spcAft>
                <a:spcPts val="200"/>
              </a:spcAft>
              <a:defRPr sz="1000" b="1">
                <a:solidFill>
                  <a:srgbClr val="FB7185"/>
                </a:solidFill>
                <a:latin typeface="Courier"/>
              </a:defRPr>
            </a:pPr>
            <a:r>
              <a:t>                       (:ComplaintCause {name: 'damaged_product', severity: 'HIGH'})</a:t>
            </a:r>
          </a:p>
          <a:p>
            <a:pPr>
              <a:spcAft>
                <a:spcPts val="200"/>
              </a:spcAft>
              <a:defRPr sz="900" b="0">
                <a:solidFill>
                  <a:srgbClr val="FBBF24"/>
                </a:solidFill>
                <a:latin typeface="Courier"/>
              </a:defRPr>
            </a:pPr>
            <a:r>
              <a:t>                                        │</a:t>
            </a:r>
          </a:p>
          <a:p>
            <a:pPr>
              <a:spcAft>
                <a:spcPts val="200"/>
              </a:spcAft>
              <a:defRPr sz="900" b="0">
                <a:solidFill>
                  <a:srgbClr val="FBBF24"/>
                </a:solidFill>
                <a:latin typeface="Courier"/>
              </a:defRPr>
            </a:pPr>
            <a:r>
              <a:t>                                        ▼ [:TRIGGERS_REMEDY]</a:t>
            </a:r>
          </a:p>
          <a:p>
            <a:pPr>
              <a:spcAft>
                <a:spcPts val="200"/>
              </a:spcAft>
              <a:defRPr sz="1000" b="1">
                <a:solidFill>
                  <a:srgbClr val="A78BFA"/>
                </a:solidFill>
                <a:latin typeface="Courier"/>
              </a:defRPr>
            </a:pPr>
            <a:r>
              <a:t>            (:RemediationAction {type: 'Mandate_Reinforced_Packaging_Heavy_Items'})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03520"/>
            <a:ext cx="11064240" cy="12801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376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🔍 Instance Grounding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68756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Real Provenance: Order ORD_50042 took 25 days (11 days over ETA) shipped by Seller SELLER_182 (SP) to Customer CUST_4821 (RJ).</a:t>
            </a:r>
          </a:p>
          <a:p>
            <a:pPr>
              <a:spcAft>
                <a:spcPts val="2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Causal Path: Product PROD_1001 weighs 4.8kg (heavy bulk) -&gt; shipped along congested SP-&gt;RJ route -&gt; arrived with shattered legs (REV_90114).</a:t>
            </a:r>
          </a:p>
          <a:p>
            <a:pPr>
              <a:spcAft>
                <a:spcPts val="2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System Reasoning: Connects high product weight + route delay to damaged_product root cause, recommending reinforced packaging.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5 Complex Multi-Hop Questions Answered by the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High-value business queries that fail under vector RAG but succeed with semantic graphs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3566160" cy="23317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❓ Q1: Multi-Hop Route Bottleneck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64208"/>
            <a:ext cx="32918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880">
                <a:solidFill>
                  <a:srgbClr val="E2E8F0"/>
                </a:solidFill>
                <a:latin typeface="Calibri"/>
              </a:defRPr>
            </a:pPr>
            <a:r>
              <a:t>Question: 'Which logistics routes generate the highest frequency of damaged furniture complaints?'</a:t>
            </a:r>
          </a:p>
          <a:p>
            <a:pPr>
              <a:spcAft>
                <a:spcPts val="250"/>
              </a:spcAft>
              <a:defRPr sz="880">
                <a:solidFill>
                  <a:srgbClr val="E2E8F0"/>
                </a:solidFill>
                <a:latin typeface="Calibri"/>
              </a:defRPr>
            </a:pPr>
            <a:r>
              <a:t>Graph Traversal: (Route) &lt;-[:TRANSPORTED_VIA]- (Order) -[:RECEIVES_FEEDBACK]-&gt; (Review) -[:CITES_COMPLAINT]-&gt; (Cause: 'damaged_product').</a:t>
            </a:r>
          </a:p>
          <a:p>
            <a:pPr>
              <a:spcAft>
                <a:spcPts val="250"/>
              </a:spcAft>
              <a:defRPr sz="880">
                <a:solidFill>
                  <a:srgbClr val="E2E8F0"/>
                </a:solidFill>
                <a:latin typeface="Calibri"/>
              </a:defRPr>
            </a:pPr>
            <a:r>
              <a:t>Why Graph Wins: Connects geographic route topology directly with customer complaint tags across multiple orders.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280160"/>
            <a:ext cx="3566160" cy="23317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39" y="135331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Calibri"/>
              </a:defRPr>
            </a:pPr>
            <a:r>
              <a:t>❓ Q2: Seller Packaging Compliance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39" y="1664208"/>
            <a:ext cx="32918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880">
                <a:solidFill>
                  <a:srgbClr val="E2E8F0"/>
                </a:solidFill>
                <a:latin typeface="Calibri"/>
              </a:defRPr>
            </a:pPr>
            <a:r>
              <a:t>Question: 'Which sellers have high packaging-damage complaint ratios despite delivering on time?'</a:t>
            </a:r>
          </a:p>
          <a:p>
            <a:pPr>
              <a:spcAft>
                <a:spcPts val="250"/>
              </a:spcAft>
              <a:defRPr sz="880">
                <a:solidFill>
                  <a:srgbClr val="E2E8F0"/>
                </a:solidFill>
                <a:latin typeface="Calibri"/>
              </a:defRPr>
            </a:pPr>
            <a:r>
              <a:t>Graph Traversal: (Seller) -[:FULFILLS]-&gt; (Product) &lt;-[:CONTAINS]- (Order {is_delayed: 0}) -[:RECEIVES]-&gt; (Review) -[:CITES]-&gt; (Cause: 'damaged_product').</a:t>
            </a:r>
          </a:p>
          <a:p>
            <a:pPr>
              <a:spcAft>
                <a:spcPts val="250"/>
              </a:spcAft>
              <a:defRPr sz="880">
                <a:solidFill>
                  <a:srgbClr val="E2E8F0"/>
                </a:solidFill>
                <a:latin typeface="Calibri"/>
              </a:defRPr>
            </a:pPr>
            <a:r>
              <a:t>Why Graph Wins: Isolates merchant packaging defects from carrier delivery delays.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8" y="1280160"/>
            <a:ext cx="3566160" cy="23317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8" y="135331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Calibri"/>
              </a:defRPr>
            </a:pPr>
            <a:r>
              <a:t>❓ Q3: Pre-Purchase Buyer Risk Assessment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8" y="1664208"/>
            <a:ext cx="32918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880">
                <a:solidFill>
                  <a:srgbClr val="E2E8F0"/>
                </a:solidFill>
                <a:latin typeface="Calibri"/>
              </a:defRPr>
            </a:pPr>
            <a:r>
              <a:t>Question: 'What is the risk profile of purchasing a 5kg furniture item delivered from SP to BA?'</a:t>
            </a:r>
          </a:p>
          <a:p>
            <a:pPr>
              <a:spcAft>
                <a:spcPts val="250"/>
              </a:spcAft>
              <a:defRPr sz="880">
                <a:solidFill>
                  <a:srgbClr val="E2E8F0"/>
                </a:solidFill>
                <a:latin typeface="Calibri"/>
              </a:defRPr>
            </a:pPr>
            <a:r>
              <a:t>Graph Traversal: (Simulated Product) -[:TRAVELS_ON]-&gt; (Route: 'SP_TO_BA') -&gt; MATCH historical delays and complaint weights.</a:t>
            </a:r>
          </a:p>
          <a:p>
            <a:pPr>
              <a:spcAft>
                <a:spcPts val="250"/>
              </a:spcAft>
              <a:defRPr sz="880">
                <a:solidFill>
                  <a:srgbClr val="E2E8F0"/>
                </a:solidFill>
                <a:latin typeface="Calibri"/>
              </a:defRPr>
            </a:pPr>
            <a:r>
              <a:t>Why Graph Wins: Traverses historical performance of specific weight classes on specific geographic routes.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63040" y="3749039"/>
            <a:ext cx="4572000" cy="23774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3822191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A78BFA"/>
                </a:solidFill>
                <a:latin typeface="Calibri"/>
              </a:defRPr>
            </a:pPr>
            <a:r>
              <a:t>❓ Q4: Cross-Category Vulnerability Clustering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133087"/>
            <a:ext cx="4297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Question: 'Do heavy products across bed_bath_table and furniture share the same carrier failure modes?'</a:t>
            </a:r>
          </a:p>
          <a:p>
            <a:pPr>
              <a:spcAft>
                <a:spcPts val="25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Graph Traversal: MATCH (p:Product) WHERE p.weight &gt; 4000g MATCH (p)&lt;-[:CONTAINS]-(o)-[:CITES]-&gt;(c:ComplaintCause) RETURN c.name.</a:t>
            </a:r>
          </a:p>
          <a:p>
            <a:pPr>
              <a:spcAft>
                <a:spcPts val="25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Why Graph Wins: Groups defect mechanisms across disparate product categories by physical attribute.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749039"/>
            <a:ext cx="4572000" cy="23774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822191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B7185"/>
                </a:solidFill>
                <a:latin typeface="Calibri"/>
              </a:defRPr>
            </a:pPr>
            <a:r>
              <a:t>❓ Q5: Automated Remediation Mapping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133087"/>
            <a:ext cx="4297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Question: 'What specific operational remedy should be enforced for Seller SELLER_182?'</a:t>
            </a:r>
          </a:p>
          <a:p>
            <a:pPr>
              <a:spcAft>
                <a:spcPts val="25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Graph Traversal: (Seller) -&gt; (Orders) -&gt; (Negative Reviews) -&gt; (Dominant ComplaintCause) -[:TRIGGERS_REMEDY]-&gt; (Action).</a:t>
            </a:r>
          </a:p>
          <a:p>
            <a:pPr>
              <a:spcAft>
                <a:spcPts val="25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Why Graph Wins: Traces evidence-grounded justification for contract actions directly back to customer review keys.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Key Takeaway: All 5 questions require 3 to 5 hops across orders, products, sellers, routes, and reviews—impossible with simple vector search.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Graph RAG Architecture &amp;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Fusing structured subgraphs with unstructured text embeddings to eliminate hallucinations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64240" cy="192024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8BDF8"/>
                </a:solidFill>
                <a:latin typeface="Courier"/>
              </a:defRPr>
            </a:pPr>
            <a:r>
              <a:t>                              INSIGHTAI GRAPH RAG PIPELINE FLOW</a:t>
            </a:r>
          </a:p>
          <a:p>
            <a:pPr>
              <a:spcAft>
                <a:spcPts val="200"/>
              </a:spcAft>
              <a:defRPr sz="950" b="1">
                <a:solidFill>
                  <a:srgbClr val="FFFFFF"/>
                </a:solidFill>
                <a:latin typeface="Courier"/>
              </a:defRPr>
            </a:pPr>
            <a:r>
              <a:t> [User Query] ──► [Entity &amp; Intent Extractor] ──► 1. Cypher Query Execution ──► (Knowledge Graph Subgraph)</a:t>
            </a:r>
          </a:p>
          <a:p>
            <a:pPr>
              <a:spcAft>
                <a:spcPts val="200"/>
              </a:spcAft>
              <a:defRPr sz="850" b="0">
                <a:solidFill>
                  <a:srgbClr val="94A3B8"/>
                </a:solidFill>
                <a:latin typeface="Courier"/>
              </a:defRPr>
            </a:pPr>
            <a:r>
              <a:t>   'Why do SP-&gt;RJ       (Extracts: 'SP-&gt;RJ',          (Retrieves: avg delay=22d,        (Entity Triples: Seller, Route,</a:t>
            </a:r>
          </a:p>
          <a:p>
            <a:pPr>
              <a:spcAft>
                <a:spcPts val="200"/>
              </a:spcAft>
              <a:defRPr sz="850" b="0">
                <a:solidFill>
                  <a:srgbClr val="94A3B8"/>
                </a:solidFill>
                <a:latin typeface="Courier"/>
              </a:defRPr>
            </a:pPr>
            <a:r>
              <a:t>    furniture orders     'furniture_decor')             complaint counts: damage=45%)     Delayed Orders, Defect Nodes)</a:t>
            </a:r>
          </a:p>
          <a:p>
            <a:pPr>
              <a:spcAft>
                <a:spcPts val="200"/>
              </a:spcAft>
              <a:defRPr sz="850" b="0">
                <a:solidFill>
                  <a:srgbClr val="FBBF24"/>
                </a:solidFill>
                <a:latin typeface="Courier"/>
              </a:defRPr>
            </a:pPr>
            <a:r>
              <a:t>    fail?')                     │</a:t>
            </a:r>
          </a:p>
          <a:p>
            <a:pPr>
              <a:spcAft>
                <a:spcPts val="200"/>
              </a:spcAft>
              <a:defRPr sz="950" b="1">
                <a:solidFill>
                  <a:srgbClr val="34D399"/>
                </a:solidFill>
                <a:latin typeface="Courier"/>
              </a:defRPr>
            </a:pPr>
            <a:r>
              <a:t>                                └──► 2. Dense Vector Retrieval ──► (Top-K Review Chunks: 'Broken table legs...')</a:t>
            </a:r>
          </a:p>
          <a:p>
            <a:pPr>
              <a:spcAft>
                <a:spcPts val="200"/>
              </a:spcAft>
              <a:defRPr sz="850" b="0">
                <a:solidFill>
                  <a:srgbClr val="FBBF24"/>
                </a:solidFill>
                <a:latin typeface="Courier"/>
              </a:defRPr>
            </a:pPr>
            <a:r>
              <a:t>                                                                                    │</a:t>
            </a:r>
          </a:p>
          <a:p>
            <a:pPr>
              <a:spcAft>
                <a:spcPts val="200"/>
              </a:spcAft>
              <a:defRPr sz="950" b="1">
                <a:solidFill>
                  <a:srgbClr val="A78BFA"/>
                </a:solidFill>
                <a:latin typeface="Courier"/>
              </a:defRPr>
            </a:pPr>
            <a:r>
              <a:t> [Grounded Output] ◄── [LLM Synthesis Engine] ◄── [Fused Prompt: Graph Context + Text Evidence + Schema Keys]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383280"/>
            <a:ext cx="5303520" cy="31089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45643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Calibri"/>
              </a:defRPr>
            </a:pPr>
            <a:r>
              <a:t>⚖️ What Comes from Knowledge Graph vs Vector 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67328"/>
            <a:ext cx="5029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From Knowledge Graph (Structured Subgraph):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Deterministic multi-hop entity relationships.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Aggregated complaint distributions &amp; delay percentages.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Explicit seller and carrier route identifiers.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Provenance primary keys (order_id, review_id).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From Vector / Text Store (Qualitative Nuance):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Authentic customer voice and emotional tone.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Specific qualitative defect descriptions (e.g. 'shattered mirror upon throwing box over fence').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383280"/>
            <a:ext cx="5303520" cy="31089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345643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Calibri"/>
              </a:defRPr>
            </a:pPr>
            <a:r>
              <a:t>🚀 Why Graph RAG Dramatically Improves InsightAI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767328"/>
            <a:ext cx="5029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1. Eliminates Hallucination via Fact Constraining: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The LLM receives pre-verified graph triples; it cannot invent fictitious carriers or false delay numbers.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2. Multi-Hop Causal Reasoning: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Enables the LLM to explain the chain of causality: Route SP-&gt;RJ has 22d lag -&gt; damages heavy 4.8kg furniture -&gt; generates 1-star reviews.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3. Exact Source Provenance: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Every sentence generated by the LLM maps to explicit graph nodes and database keys.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Neo4j Implementation Plan &amp; Cypher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Concrete blueprint for loading Olist data into Neo4j and executing graph queries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303520" cy="34747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💾 Neo4j Database Schema &amp; Ingestion Blueprint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64208"/>
            <a:ext cx="5029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Node Labels (Primary Graph Entities):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:Customer, :Seller, :Order, :Product, :Category, :Route, :Review, :ComplaintCause, :RemediationAction.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Relationship Types: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[:PLACED_ORDER], [:FULFILLS], [:CONTAINS], [:SHIPPED_VIA], [:RECEIVES_REVIEW], [:CITES_COMPLAINT], [:TRIGGERS_ACTION].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Data Source &amp; Ingestion Script (APOC / LOAD CSV):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Load normalized CSVs from data/ directory using LOAD CSV WITH HEADERS.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Create unique constraints on :Order(order_id), :Product(product_id), :Review(review_id), :Seller(seller_id).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80160"/>
            <a:ext cx="5303520" cy="347472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37160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34D399"/>
                </a:solidFill>
                <a:latin typeface="Courier"/>
              </a:defRPr>
            </a:pPr>
            <a:r>
              <a:t>REPRESENTATIVE PRODUCTION CYPHER QUERY</a:t>
            </a:r>
          </a:p>
          <a:p>
            <a:pPr>
              <a:spcAft>
                <a:spcPts val="200"/>
              </a:spcAft>
              <a:defRPr sz="850" b="0">
                <a:solidFill>
                  <a:srgbClr val="94A3B8"/>
                </a:solidFill>
                <a:latin typeface="Courier"/>
              </a:defRPr>
            </a:pPr>
            <a:r>
              <a:t>// Find top defect causes for delayed furniture on SP-&gt;RJ route</a:t>
            </a:r>
          </a:p>
          <a:p>
            <a:pPr>
              <a:spcAft>
                <a:spcPts val="200"/>
              </a:spcAft>
              <a:defRPr sz="900" b="1">
                <a:solidFill>
                  <a:srgbClr val="FFFFFF"/>
                </a:solidFill>
                <a:latin typeface="Courier"/>
              </a:defRPr>
            </a:pPr>
            <a:r>
              <a:t>MATCH (r:LogisticsRoute {id: 'SP_TO_RJ'})</a:t>
            </a:r>
          </a:p>
          <a:p>
            <a:pPr>
              <a:spcAft>
                <a:spcPts val="200"/>
              </a:spcAft>
              <a:defRPr sz="900" b="1">
                <a:solidFill>
                  <a:srgbClr val="FFFFFF"/>
                </a:solidFill>
                <a:latin typeface="Courier"/>
              </a:defRPr>
            </a:pPr>
            <a:r>
              <a:t>      &lt;-[:TRANSPORTED_VIA]-(o:Order)</a:t>
            </a:r>
          </a:p>
          <a:p>
            <a:pPr>
              <a:spcAft>
                <a:spcPts val="200"/>
              </a:spcAft>
              <a:defRPr sz="900" b="1">
                <a:solidFill>
                  <a:srgbClr val="FFFFFF"/>
                </a:solidFill>
                <a:latin typeface="Courier"/>
              </a:defRPr>
            </a:pPr>
            <a:r>
              <a:t>      -[:CONTAINS_ITEM]-&gt;(p:Product {category: 'furniture_decor'})</a:t>
            </a:r>
          </a:p>
          <a:p>
            <a:pPr>
              <a:spcAft>
                <a:spcPts val="200"/>
              </a:spcAft>
              <a:defRPr sz="900" b="1">
                <a:solidFill>
                  <a:srgbClr val="FFFFFF"/>
                </a:solidFill>
                <a:latin typeface="Courier"/>
              </a:defRPr>
            </a:pPr>
            <a:r>
              <a:t>      -[:RECEIVES_FEEDBACK]-&gt;(rev:Review)</a:t>
            </a:r>
          </a:p>
          <a:p>
            <a:pPr>
              <a:spcAft>
                <a:spcPts val="200"/>
              </a:spcAft>
              <a:defRPr sz="900" b="1">
                <a:solidFill>
                  <a:srgbClr val="FFFFFF"/>
                </a:solidFill>
                <a:latin typeface="Courier"/>
              </a:defRPr>
            </a:pPr>
            <a:r>
              <a:t>      -[:CITES_COMPLAINT]-&gt;(cause:ComplaintCause)</a:t>
            </a:r>
          </a:p>
          <a:p>
            <a:pPr>
              <a:spcAft>
                <a:spcPts val="200"/>
              </a:spcAft>
              <a:defRPr sz="900" b="1">
                <a:solidFill>
                  <a:srgbClr val="FBBF24"/>
                </a:solidFill>
                <a:latin typeface="Courier"/>
              </a:defRPr>
            </a:pPr>
            <a:r>
              <a:t>WHERE o.is_delayed = 1</a:t>
            </a:r>
          </a:p>
          <a:p>
            <a:pPr>
              <a:spcAft>
                <a:spcPts val="200"/>
              </a:spcAft>
              <a:defRPr sz="900" b="1">
                <a:solidFill>
                  <a:srgbClr val="38BDF8"/>
                </a:solidFill>
                <a:latin typeface="Courier"/>
              </a:defRPr>
            </a:pPr>
            <a:r>
              <a:t>RETURN cause.name AS RootCause,</a:t>
            </a:r>
          </a:p>
          <a:p>
            <a:pPr>
              <a:spcAft>
                <a:spcPts val="200"/>
              </a:spcAft>
              <a:defRPr sz="900" b="1">
                <a:solidFill>
                  <a:srgbClr val="38BDF8"/>
                </a:solidFill>
                <a:latin typeface="Courier"/>
              </a:defRPr>
            </a:pPr>
            <a:r>
              <a:t>       count(rev) AS ComplaintCount,</a:t>
            </a:r>
          </a:p>
          <a:p>
            <a:pPr>
              <a:spcAft>
                <a:spcPts val="200"/>
              </a:spcAft>
              <a:defRPr sz="900" b="1">
                <a:solidFill>
                  <a:srgbClr val="38BDF8"/>
                </a:solidFill>
                <a:latin typeface="Courier"/>
              </a:defRPr>
            </a:pPr>
            <a:r>
              <a:t>       round(avg(o.actual_delivery_days), 1) AS AvgLag</a:t>
            </a:r>
          </a:p>
          <a:p>
            <a:pPr>
              <a:spcAft>
                <a:spcPts val="200"/>
              </a:spcAft>
              <a:defRPr sz="900" b="1">
                <a:solidFill>
                  <a:srgbClr val="38BDF8"/>
                </a:solidFill>
                <a:latin typeface="Courier"/>
              </a:defRPr>
            </a:pPr>
            <a:r>
              <a:t>ORDER BY ComplaintCount DESC LIMIT 5;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937760"/>
            <a:ext cx="11064240" cy="15544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0109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A78BFA"/>
                </a:solidFill>
                <a:latin typeface="Calibri"/>
              </a:defRPr>
            </a:pPr>
            <a:r>
              <a:t>🗺️ End-to-End Implementation Roadmap for Challenge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321808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Step 1 (Completed): Human Design of ontology, entities, directed relationships, and Graph RAG workflow.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Step 2 (Next Lab Checkpoint): Spin up local Neo4j Docker container or Neo4j AuraDB instance; run LOAD CSV ETL script.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Step 3: Implement LangChain / LlamaIndex Cypher-QA chain linking user queries -&gt; Cypher generator -&gt; Neo4j subgraphs.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Step 4: Integrate Neo4j Graph RAG directly into our existing InsightAI Streamlit application.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